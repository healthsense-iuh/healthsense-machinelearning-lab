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mọi người. Bộ slide này kể toàn bộ phần Machine Learning của HealthSense theo đúng thứ tự chúng ta đã xây dựng nó: bắt đầu từ câu hỏi y học, đi qua dữ liệu, đặc trưng, một bài học đắt giá về data leakage, ba tầng kiểm định, và kết thúc ở mô hình đang chạy trong sản phẩm. Mục tiêu: xem xong hiểu được TẠI SAO từng bước tồn tại, chứ không chỉ là làm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hệ thống là chuỗi 4 bước. Vòng đeo chỉ thu tín hiệu thô; mọi 'trí tuệ' nằm ở 2 hộp giữa — đó là phần ML ta sẽ đào sâu. Điểm cần nhớ: ML ở đây KHÔNG nhìn ảnh, không nghe âm thanh — nó chỉ nhìn MỘT dãy số: khoảng cách giữa các nhịp tim liên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AFib đáng sợ ở chỗ máu quẩn trong tâm nhĩ tạo cục đông, trôi lên não gây đột quỵ — nguy cơ gấp 5 lần. Vì nó đến từng đợt, chiếc máy đo 24/7 trên cổ tay có cơ hội bắt được điều mà buổi khám ngắn bỏ lỡ. Và may cho ML: dấu hiệu của nó nằm đúng trong thứ dễ đo nhất — khoảng cách giữa các nhịp.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dữ liệu thật đo từ chính thiết bị của nhóm, không phải hình minh họa. PPG = photoplethysmography: chiếu sáng vào da và đo lượng phản xạ; tim bóp một cái, máu dồn qua, ánh sáng hấp thụ nhiều hơn — thành một 'ngọn sóng'. Việc đầu tiên của pipeline là tìm chính xác đỉnh của từng ngọn sóng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bộ dữ liệu bù trừ nhau: MIMIC cho ta PPG (giống cảm biến của mình) kèm ECG đối chiếu; AFDB cho ta AF kịch phát — cùng một người có cả lúc bệnh lúc thường, thứ ép mô hình phải học dấu hiệu bệnh chứ không học thuộc người. Dòng chữ đỏ cuối slide là chi tiết quan trọng nhất buổi hôm nay: từng mẫu đều gắn mã bệnh nhân — slide 10 sẽ cho thấy thiếu nó thì thảm họa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bước chế biến biến 6.000 điểm sóng của một cửa sổ 30s thành ~40 con số NN. Ô vàng là bài học riêng của bài toán AFib: các tutorial HRV thường dạy lọc bỏ nhịp lệch quá 20-25% so với trung vị — làm vậy với bệnh nhân AF là xóa chính triệu chứng. Chúng ta chỉ loại giá trị phi sinh lý do lỗi dò đỉnh.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người thật trong dữ liệu, cùng 60 giây. Bên trái là nonaf_005 — chuỗi NN gần như đường thẳng. Bên phải là af_003 — răng cưa hỗn loạn. Đây là lý do bài toán này 'học được': tín hiệu phân biệt rất mạnh. Câu hỏi tiếp theo: đo độ loạn ấy bằng những con số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nhịp cầu, trả lời 2 câu hay bị hỏi. Câu 1: chuỗi NN đưa vào đâu? — Không đút thẳng vào mô hình được vì mỗi cửa sổ số nhịp khác nhau, mà XGBoost/RF cần bảng có số cột cố định. Giải pháp giống cách làm HỌC BẠ: cả trăm bài kiểm tra (chuỗi NN) được tóm thành vài con số cố định — điểm trung bình (HR_mean), độ đều (SDNN)... Câu 2: dựa vào đâu ra 16? — Theo chuẩn Task Force 1996 của Hiệp hội Tim mạch châu Âu + Bắc Mỹ, không phải tự chế. Chọn theo chuẩn có 3 cái lợi: có ý nghĩa sinh lý, bác sĩ tin được, và so sánh được với các paper khác. Bảng bên phải là dữ liệu THẬT: 2 hàng đầu của người thường và 1 hàng của bệnh nhân AF — nhìn cột RMSSD là thấy ngay 34.9 vs 295.2.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'trường phái' đo cùng một thứ theo ba cách. Điểm đáng khoe về sự trung thực khoa học: chuẩn Task Force 1996 nói LF cần bản ghi 2 phút — cửa sổ của ta 30 giây, nên ta LOẠI nhóm LF khỏi mô hình dù có tính ra được. Thà ít đặc trưng mà sạch còn hơn nhiều mà nhiễu. Mô hình cuối dùng 13/16.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thị đắt giá nhất để 'nhìn thấy' AFib — và hiện đã có trong app: bác sĩ mở hồ sơ là thấy đám chấm này của từng phép đo. Cách đọc cho người mới: chỉ cần nhớ CHỤM = khỏe, TẢN = nghi ngờ.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bộ. Con số 98-99% từng có thật trong repo — và sai theo cách nguy hiểm nhất: trông rất thuyết phục. Bằng chứng nó ảo: khi chia đúng theo bệnh nhân, điểm tụt về 94%. 4-5% chênh lệch đó chính là phần mô hình 'nhận mặt người quen' chứ không phải nhận bệnh. Trong dữ liệu y sinh, leakage kiểu này phổ biến đến mức có cả các bài báo review chỉ để điểm mặt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LOSO là chuẩn vàng khi số bệnh nhân ít. Mỗi vòng: giấu 1 người, học 34 người, và mọi thứ 'học được từ dữ liệu' — kể cả cái scaler tầm thường — cũng chỉ học từ 34 người đó. Nested CV nghĩa là ngay cả việc chọn cấu hình mô hình cũng thi đấu nội bộ trong train. Nghe cực đoan nhưng đây là mức tối thiểu để một con số y sinh đáng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ma trận nhầm lẫn của 3 mô hình — cả ba đều KHÔNG bỏ sót bệnh nhân AFib nào (hàng dưới bên trái = 0). Với sàng lọc y tế, bỏ sót người bệnh là lỗi đắt nhất nên Recall 100% là con số đáng giá nhất. Còn 2 ca 'Normal bị báo nhầm' — slide sau có một cú twist thú vị về họ.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trái: xác suất AFib trung bình của từng người — đỏ là AFib thật, xanh là Normal. Hai cột xanh vượt ngưỡng 0.5 chính là 2 ca 'nhầm'. Nhờ MIMIC có ECG ghi song song, ta soi được đáp án chuẩn: ca 012 hóa ra nhãn sai chứ không phải mô hình sai; ca 014 là tín hiệu hỏng — và chính ca này khai sinh tính năng SQI đang chạy trong sản phẩm. Bài học: đừng vội tin cả nhãn dataset lẫn mô hình — hãy tìm nguồn sự thật thứ 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bài thi khó hơn cả LOSO: không chỉ người lạ mà cả máy lạ, bệnh viện lạ. AUC đọc thế này: xác suất mô hình xếp một người bệnh cao điểm hơn một người khỏe — 0.5 là đoán mò, 1.0 là hoàn hảo, 0.98 là mức rất mạnh. Giữ 0.976-0.987 hai chiều là bằng chứng tổng quát hóa thuyết phục nhất trong toàn bộ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tự 3 tầng có logic: tầng 1 chứng minh phương pháp sạch, tầng 2 chứng minh học được bệnh thật, tầng 3 mới dám dùng hết dữ liệu cho model cuối. Chi tiết sample weight: không cân bằng thì AFDB 'đè' MIMIC 7:1, mô hình sẽ thiên về đặc điểm ECG. Model cuối là 1 file .pkl duy nhất gồm cả scaler — backend chỉ cần joblib.load rồi predict_proba.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này ít dự án sinh viên nào làm: kiểm chứng chính công cụ đo của mình bằng nguồn sự thật độc lập. Kết quả cũng tái xác nhận một hiện tượng có trong y văn (Schafer &amp; Vagedes 2013): biến thiên nhịp đo từ PPG luôn 'phồng' hơn từ ECG — nhưng không sao với bài phân loại, vì mô hình học trên chính hệ quy chiếu PPG, phồng đều cả hai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chỉ có giá trị khi sống được trong sản phẩm. Ba mảnh ghép: SQI sinh ra từ đúng ca non_af_014 ở slide 13; parity test là hợp đồng giữa lab và production; và chuỗi realtime đưa kết quả tới bác sĩ trong ~1 giây. Model đang chạy thật trên server — đây không phải slide 'tương 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lại bằng 5 bài học — cái nào cũng dùng lại được cho mọi dự án ML y sinh sau này. Và kết thúc bằng giới hạn: nói thẳng điều mình CHƯA làm được cũng là một phần của khoa học tử tế. Tài liệu sâu hơn: docs/index.html của repo ML có sơ đồ tương tác + giải thích thuật ngữ; notebooks/BaoCao_HealthSense_ML_v4.ipynb chạy được toàn bộ số liệu trong slide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B5C"/>
        </a:solidFill>
      </p:bgPr>
    </p:bg>
    <p:spTree>
      <p:nvGrpSpPr>
        <p:cNvPr id="1" name=""/>
        <p:cNvGrpSpPr/>
        <p:nvPr/>
      </p:nvGrpSpPr>
      <p:grpSpPr>
        <a:xfrm>
          <a:off x="0" y="0"/>
          <a:ext cx="0" cy="0"/>
          <a:chOff x="0" y="0"/>
          <a:chExt cx="0" cy="0"/>
        </a:xfrm>
      </p:grpSpPr>
      <p:sp>
        <p:nvSpPr>
          <p:cNvPr id="2" name="Shape 0"/>
          <p:cNvSpPr/>
          <p:nvPr/>
        </p:nvSpPr>
        <p:spPr>
          <a:xfrm>
            <a:off x="5591556" y="1051560"/>
            <a:ext cx="1005840" cy="1005840"/>
          </a:xfrm>
          <a:prstGeom prst="ellipse">
            <a:avLst/>
          </a:prstGeom>
          <a:solidFill>
            <a:srgbClr val="990011"/>
          </a:solidFill>
          <a:ln/>
        </p:spPr>
      </p:sp>
      <p:pic>
        <p:nvPicPr>
          <p:cNvPr id="3" name="Image 0" descr="preencoded.png">    </p:cNvPr>
          <p:cNvPicPr>
            <a:picLocks noChangeAspect="1"/>
          </p:cNvPicPr>
          <p:nvPr/>
        </p:nvPicPr>
        <p:blipFill>
          <a:blip r:embed="rId1"/>
          <a:stretch>
            <a:fillRect/>
          </a:stretch>
        </p:blipFill>
        <p:spPr>
          <a:xfrm>
            <a:off x="5812841" y="1272845"/>
            <a:ext cx="563270" cy="563270"/>
          </a:xfrm>
          <a:prstGeom prst="rect">
            <a:avLst/>
          </a:prstGeom>
        </p:spPr>
      </p:pic>
      <p:sp>
        <p:nvSpPr>
          <p:cNvPr id="4" name="Text 1"/>
          <p:cNvSpPr txBox="1"/>
          <p:nvPr/>
        </p:nvSpPr>
        <p:spPr>
          <a:xfrm>
            <a:off x="914400" y="2286000"/>
            <a:ext cx="10360152"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Phát hiện RUNG NHĨ từ ánh sáng</a:t>
            </a:r>
            <a:endParaRPr lang="en-US" sz="4000" dirty="0"/>
          </a:p>
        </p:txBody>
      </p:sp>
      <p:sp>
        <p:nvSpPr>
          <p:cNvPr id="5" name="Text 2"/>
          <p:cNvSpPr txBox="1"/>
          <p:nvPr/>
        </p:nvSpPr>
        <p:spPr>
          <a:xfrm>
            <a:off x="1371600" y="3291840"/>
            <a:ext cx="9445752" cy="548640"/>
          </a:xfrm>
          <a:prstGeom prst="rect">
            <a:avLst/>
          </a:prstGeom>
          <a:noFill/>
          <a:ln/>
        </p:spPr>
        <p:txBody>
          <a:bodyPr wrap="square" lIns="0" tIns="0" rIns="0" bIns="0" rtlCol="0" anchor="ctr"/>
          <a:lstStyle/>
          <a:p>
            <a:pPr algn="ctr" indent="0" marL="0">
              <a:buNone/>
            </a:pPr>
            <a:r>
              <a:rPr lang="en-US" sz="1800" i="1" dirty="0">
                <a:solidFill>
                  <a:srgbClr val="C9CFEF"/>
                </a:solidFill>
                <a:latin typeface="Calibri" pitchFamily="34" charset="0"/>
                <a:ea typeface="Calibri" pitchFamily="34" charset="-122"/>
                <a:cs typeface="Calibri" pitchFamily="34" charset="-120"/>
              </a:rPr>
              <a:t>Toàn bộ hành trình Machine Learning của HealthSense — kể lại cho người đang học</a:t>
            </a:r>
            <a:endParaRPr lang="en-US" sz="1800" dirty="0"/>
          </a:p>
        </p:txBody>
      </p:sp>
      <p:sp>
        <p:nvSpPr>
          <p:cNvPr id="6" name="Text 3"/>
          <p:cNvSpPr txBox="1"/>
          <p:nvPr/>
        </p:nvSpPr>
        <p:spPr>
          <a:xfrm>
            <a:off x="1371600" y="5120640"/>
            <a:ext cx="9445752" cy="457200"/>
          </a:xfrm>
          <a:prstGeom prst="rect">
            <a:avLst/>
          </a:prstGeom>
          <a:noFill/>
          <a:ln/>
        </p:spPr>
        <p:txBody>
          <a:bodyPr wrap="square" lIns="0" tIns="0" rIns="0" bIns="0" rtlCol="0" anchor="ctr"/>
          <a:lstStyle/>
          <a:p>
            <a:pPr algn="ctr" indent="0" marL="0">
              <a:buNone/>
            </a:pPr>
            <a:r>
              <a:rPr lang="en-US" sz="1400" dirty="0">
                <a:solidFill>
                  <a:srgbClr val="8B93C4"/>
                </a:solidFill>
                <a:latin typeface="Calibri" pitchFamily="34" charset="0"/>
                <a:ea typeface="Calibri" pitchFamily="34" charset="-122"/>
                <a:cs typeface="Calibri" pitchFamily="34" charset="-120"/>
              </a:rPr>
              <a:t>Từ cảm biến trên cổ tay  →  60 bệnh nhân  →  mô hình không gian lận  →  sản phẩm thật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Bức tranh lớn: 30 giây hiểu cả hệ thống</a:t>
            </a:r>
            <a:endParaRPr lang="en-US" sz="3000" dirty="0"/>
          </a:p>
        </p:txBody>
      </p:sp>
      <p:sp>
        <p:nvSpPr>
          <p:cNvPr id="3" name="Shape 1"/>
          <p:cNvSpPr/>
          <p:nvPr/>
        </p:nvSpPr>
        <p:spPr>
          <a:xfrm>
            <a:off x="548640" y="1828800"/>
            <a:ext cx="2560320" cy="2834640"/>
          </a:xfrm>
          <a:prstGeom prst="roundRect">
            <a:avLst>
              <a:gd name="adj" fmla="val 4286"/>
            </a:avLst>
          </a:prstGeom>
          <a:solidFill>
            <a:srgbClr val="FCF6F5"/>
          </a:solidFill>
          <a:ln w="12700">
            <a:solidFill>
              <a:srgbClr val="E3D5D3"/>
            </a:solidFill>
            <a:prstDash val="solid"/>
          </a:ln>
        </p:spPr>
      </p:sp>
      <p:sp>
        <p:nvSpPr>
          <p:cNvPr id="4" name="Shape 2"/>
          <p:cNvSpPr/>
          <p:nvPr/>
        </p:nvSpPr>
        <p:spPr>
          <a:xfrm>
            <a:off x="1591056" y="2057400"/>
            <a:ext cx="566928" cy="566928"/>
          </a:xfrm>
          <a:prstGeom prst="ellipse">
            <a:avLst/>
          </a:prstGeom>
          <a:solidFill>
            <a:srgbClr val="2F3C7E"/>
          </a:solidFill>
          <a:ln/>
        </p:spPr>
      </p:sp>
      <p:pic>
        <p:nvPicPr>
          <p:cNvPr id="5" name="Image 0" descr="preencoded.png">    </p:cNvPr>
          <p:cNvPicPr>
            <a:picLocks noChangeAspect="1"/>
          </p:cNvPicPr>
          <p:nvPr/>
        </p:nvPicPr>
        <p:blipFill>
          <a:blip r:embed="rId1"/>
          <a:stretch>
            <a:fillRect/>
          </a:stretch>
        </p:blipFill>
        <p:spPr>
          <a:xfrm>
            <a:off x="1715780" y="2182124"/>
            <a:ext cx="317480" cy="317480"/>
          </a:xfrm>
          <a:prstGeom prst="rect">
            <a:avLst/>
          </a:prstGeom>
        </p:spPr>
      </p:pic>
      <p:sp>
        <p:nvSpPr>
          <p:cNvPr id="6" name="Text 3"/>
          <p:cNvSpPr txBox="1"/>
          <p:nvPr/>
        </p:nvSpPr>
        <p:spPr>
          <a:xfrm>
            <a:off x="548640" y="2743200"/>
            <a:ext cx="2560320" cy="365760"/>
          </a:xfrm>
          <a:prstGeom prst="rect">
            <a:avLst/>
          </a:prstGeom>
          <a:noFill/>
          <a:ln/>
        </p:spPr>
        <p:txBody>
          <a:bodyPr wrap="square" lIns="0" tIns="0" rIns="0" bIns="0" rtlCol="0" anchor="ctr"/>
          <a:lstStyle/>
          <a:p>
            <a:pPr algn="ctr" indent="0" marL="0">
              <a:buNone/>
            </a:pPr>
            <a:r>
              <a:rPr lang="en-US" sz="1700" b="1" dirty="0">
                <a:solidFill>
                  <a:srgbClr val="2F3C7E"/>
                </a:solidFill>
                <a:latin typeface="Calibri" pitchFamily="34" charset="0"/>
                <a:ea typeface="Calibri" pitchFamily="34" charset="-122"/>
                <a:cs typeface="Calibri" pitchFamily="34" charset="-120"/>
              </a:rPr>
              <a:t>Vòng đeo</a:t>
            </a:r>
            <a:endParaRPr lang="en-US" sz="1700" dirty="0"/>
          </a:p>
        </p:txBody>
      </p:sp>
      <p:sp>
        <p:nvSpPr>
          <p:cNvPr id="7" name="Text 4"/>
          <p:cNvSpPr txBox="1"/>
          <p:nvPr/>
        </p:nvSpPr>
        <p:spPr>
          <a:xfrm>
            <a:off x="685800" y="3154680"/>
            <a:ext cx="2286000" cy="1371600"/>
          </a:xfrm>
          <a:prstGeom prst="rect">
            <a:avLst/>
          </a:prstGeom>
          <a:noFill/>
          <a:ln/>
        </p:spPr>
        <p:txBody>
          <a:bodyPr wrap="square" lIns="0" tIns="0" rIns="0" bIns="0" rtlCol="0" anchor="ctr"/>
          <a:lstStyle/>
          <a:p>
            <a:pPr algn="ctr" indent="0" marL="0">
              <a:buNone/>
            </a:pPr>
            <a:r>
              <a:rPr lang="en-US" sz="1250" dirty="0">
                <a:solidFill>
                  <a:srgbClr val="444444"/>
                </a:solidFill>
                <a:latin typeface="Calibri" pitchFamily="34" charset="0"/>
                <a:ea typeface="Calibri" pitchFamily="34" charset="-122"/>
                <a:cs typeface="Calibri" pitchFamily="34" charset="-120"/>
              </a:rPr>
              <a:t>MAX30102 chiếu đèn LED</a:t>
            </a:r>
            <a:endParaRPr lang="en-US" sz="1250" dirty="0"/>
          </a:p>
          <a:p>
            <a:pPr algn="ctr" indent="0" marL="0">
              <a:buNone/>
            </a:pPr>
            <a:r>
              <a:rPr lang="en-US" sz="1250" dirty="0">
                <a:solidFill>
                  <a:srgbClr val="444444"/>
                </a:solidFill>
                <a:latin typeface="Calibri" pitchFamily="34" charset="0"/>
                <a:ea typeface="Calibri" pitchFamily="34" charset="-122"/>
                <a:cs typeface="Calibri" pitchFamily="34" charset="-120"/>
              </a:rPr>
              <a:t>vào da, ghi sóng mạch</a:t>
            </a:r>
            <a:endParaRPr lang="en-US" sz="1250" dirty="0"/>
          </a:p>
          <a:p>
            <a:pPr algn="ctr" indent="0" marL="0">
              <a:buNone/>
            </a:pPr>
            <a:r>
              <a:rPr lang="en-US" sz="1250" dirty="0">
                <a:solidFill>
                  <a:srgbClr val="444444"/>
                </a:solidFill>
                <a:latin typeface="Calibri" pitchFamily="34" charset="0"/>
                <a:ea typeface="Calibri" pitchFamily="34" charset="-122"/>
                <a:cs typeface="Calibri" pitchFamily="34" charset="-120"/>
              </a:rPr>
              <a:t>(PPG) 100 lần/giây</a:t>
            </a:r>
            <a:endParaRPr lang="en-US" sz="1250" dirty="0"/>
          </a:p>
        </p:txBody>
      </p:sp>
      <p:sp>
        <p:nvSpPr>
          <p:cNvPr id="8" name="Text 5"/>
          <p:cNvSpPr txBox="1"/>
          <p:nvPr/>
        </p:nvSpPr>
        <p:spPr>
          <a:xfrm>
            <a:off x="3090672" y="2926080"/>
            <a:ext cx="457200" cy="548640"/>
          </a:xfrm>
          <a:prstGeom prst="rect">
            <a:avLst/>
          </a:prstGeom>
          <a:noFill/>
          <a:ln/>
        </p:spPr>
        <p:txBody>
          <a:bodyPr wrap="square" lIns="0" tIns="0" rIns="0" bIns="0" rtlCol="0" anchor="ctr"/>
          <a:lstStyle/>
          <a:p>
            <a:pPr algn="ctr" indent="0" marL="0">
              <a:buNone/>
            </a:pPr>
            <a:r>
              <a:rPr lang="en-US" sz="2800" b="1" dirty="0">
                <a:solidFill>
                  <a:srgbClr val="990011"/>
                </a:solidFill>
                <a:latin typeface="Arial" pitchFamily="34" charset="0"/>
                <a:ea typeface="Arial" pitchFamily="34" charset="-122"/>
                <a:cs typeface="Arial" pitchFamily="34" charset="-120"/>
              </a:rPr>
              <a:t>→</a:t>
            </a:r>
            <a:endParaRPr lang="en-US" sz="2800" dirty="0"/>
          </a:p>
        </p:txBody>
      </p:sp>
      <p:sp>
        <p:nvSpPr>
          <p:cNvPr id="9" name="Shape 6"/>
          <p:cNvSpPr/>
          <p:nvPr/>
        </p:nvSpPr>
        <p:spPr>
          <a:xfrm>
            <a:off x="3474720" y="1828800"/>
            <a:ext cx="2560320" cy="2834640"/>
          </a:xfrm>
          <a:prstGeom prst="roundRect">
            <a:avLst>
              <a:gd name="adj" fmla="val 4286"/>
            </a:avLst>
          </a:prstGeom>
          <a:solidFill>
            <a:srgbClr val="FCF6F5"/>
          </a:solidFill>
          <a:ln w="12700">
            <a:solidFill>
              <a:srgbClr val="E3D5D3"/>
            </a:solidFill>
            <a:prstDash val="solid"/>
          </a:ln>
        </p:spPr>
      </p:sp>
      <p:sp>
        <p:nvSpPr>
          <p:cNvPr id="10" name="Shape 7"/>
          <p:cNvSpPr/>
          <p:nvPr/>
        </p:nvSpPr>
        <p:spPr>
          <a:xfrm>
            <a:off x="4517136" y="2057400"/>
            <a:ext cx="566928" cy="566928"/>
          </a:xfrm>
          <a:prstGeom prst="ellipse">
            <a:avLst/>
          </a:prstGeom>
          <a:solidFill>
            <a:srgbClr val="2F3C7E"/>
          </a:solidFill>
          <a:ln/>
        </p:spPr>
      </p:sp>
      <p:pic>
        <p:nvPicPr>
          <p:cNvPr id="11" name="Image 1" descr="preencoded.png">    </p:cNvPr>
          <p:cNvPicPr>
            <a:picLocks noChangeAspect="1"/>
          </p:cNvPicPr>
          <p:nvPr/>
        </p:nvPicPr>
        <p:blipFill>
          <a:blip r:embed="rId2"/>
          <a:stretch>
            <a:fillRect/>
          </a:stretch>
        </p:blipFill>
        <p:spPr>
          <a:xfrm>
            <a:off x="4641860" y="2182124"/>
            <a:ext cx="317480" cy="317480"/>
          </a:xfrm>
          <a:prstGeom prst="rect">
            <a:avLst/>
          </a:prstGeom>
        </p:spPr>
      </p:pic>
      <p:sp>
        <p:nvSpPr>
          <p:cNvPr id="12" name="Text 8"/>
          <p:cNvSpPr txBox="1"/>
          <p:nvPr/>
        </p:nvSpPr>
        <p:spPr>
          <a:xfrm>
            <a:off x="3474720" y="2743200"/>
            <a:ext cx="2560320" cy="365760"/>
          </a:xfrm>
          <a:prstGeom prst="rect">
            <a:avLst/>
          </a:prstGeom>
          <a:noFill/>
          <a:ln/>
        </p:spPr>
        <p:txBody>
          <a:bodyPr wrap="square" lIns="0" tIns="0" rIns="0" bIns="0" rtlCol="0" anchor="ctr"/>
          <a:lstStyle/>
          <a:p>
            <a:pPr algn="ctr" indent="0" marL="0">
              <a:buNone/>
            </a:pPr>
            <a:r>
              <a:rPr lang="en-US" sz="1700" b="1" dirty="0">
                <a:solidFill>
                  <a:srgbClr val="2F3C7E"/>
                </a:solidFill>
                <a:latin typeface="Calibri" pitchFamily="34" charset="0"/>
                <a:ea typeface="Calibri" pitchFamily="34" charset="-122"/>
                <a:cs typeface="Calibri" pitchFamily="34" charset="-120"/>
              </a:rPr>
              <a:t>Xử lý tín hiệu</a:t>
            </a:r>
            <a:endParaRPr lang="en-US" sz="1700" dirty="0"/>
          </a:p>
        </p:txBody>
      </p:sp>
      <p:sp>
        <p:nvSpPr>
          <p:cNvPr id="13" name="Text 9"/>
          <p:cNvSpPr txBox="1"/>
          <p:nvPr/>
        </p:nvSpPr>
        <p:spPr>
          <a:xfrm>
            <a:off x="3611880" y="3154680"/>
            <a:ext cx="2286000" cy="1371600"/>
          </a:xfrm>
          <a:prstGeom prst="rect">
            <a:avLst/>
          </a:prstGeom>
          <a:noFill/>
          <a:ln/>
        </p:spPr>
        <p:txBody>
          <a:bodyPr wrap="square" lIns="0" tIns="0" rIns="0" bIns="0" rtlCol="0" anchor="ctr"/>
          <a:lstStyle/>
          <a:p>
            <a:pPr algn="ctr" indent="0" marL="0">
              <a:buNone/>
            </a:pPr>
            <a:r>
              <a:rPr lang="en-US" sz="1250" dirty="0">
                <a:solidFill>
                  <a:srgbClr val="444444"/>
                </a:solidFill>
                <a:latin typeface="Calibri" pitchFamily="34" charset="0"/>
                <a:ea typeface="Calibri" pitchFamily="34" charset="-122"/>
                <a:cs typeface="Calibri" pitchFamily="34" charset="-120"/>
              </a:rPr>
              <a:t>Lọc nhiễu, tìm từng</a:t>
            </a:r>
            <a:endParaRPr lang="en-US" sz="1250" dirty="0"/>
          </a:p>
          <a:p>
            <a:pPr algn="ctr" indent="0" marL="0">
              <a:buNone/>
            </a:pPr>
            <a:r>
              <a:rPr lang="en-US" sz="1250" dirty="0">
                <a:solidFill>
                  <a:srgbClr val="444444"/>
                </a:solidFill>
                <a:latin typeface="Calibri" pitchFamily="34" charset="0"/>
                <a:ea typeface="Calibri" pitchFamily="34" charset="-122"/>
                <a:cs typeface="Calibri" pitchFamily="34" charset="-120"/>
              </a:rPr>
              <a:t>nhịp tim, đo khoảng</a:t>
            </a:r>
            <a:endParaRPr lang="en-US" sz="1250" dirty="0"/>
          </a:p>
          <a:p>
            <a:pPr algn="ctr" indent="0" marL="0">
              <a:buNone/>
            </a:pPr>
            <a:r>
              <a:rPr lang="en-US" sz="1250" dirty="0">
                <a:solidFill>
                  <a:srgbClr val="444444"/>
                </a:solidFill>
                <a:latin typeface="Calibri" pitchFamily="34" charset="0"/>
                <a:ea typeface="Calibri" pitchFamily="34" charset="-122"/>
                <a:cs typeface="Calibri" pitchFamily="34" charset="-120"/>
              </a:rPr>
              <a:t>cách giữa các nhịp</a:t>
            </a:r>
            <a:endParaRPr lang="en-US" sz="1250" dirty="0"/>
          </a:p>
        </p:txBody>
      </p:sp>
      <p:sp>
        <p:nvSpPr>
          <p:cNvPr id="14" name="Text 10"/>
          <p:cNvSpPr txBox="1"/>
          <p:nvPr/>
        </p:nvSpPr>
        <p:spPr>
          <a:xfrm>
            <a:off x="6016752" y="2926080"/>
            <a:ext cx="457200" cy="548640"/>
          </a:xfrm>
          <a:prstGeom prst="rect">
            <a:avLst/>
          </a:prstGeom>
          <a:noFill/>
          <a:ln/>
        </p:spPr>
        <p:txBody>
          <a:bodyPr wrap="square" lIns="0" tIns="0" rIns="0" bIns="0" rtlCol="0" anchor="ctr"/>
          <a:lstStyle/>
          <a:p>
            <a:pPr algn="ctr" indent="0" marL="0">
              <a:buNone/>
            </a:pPr>
            <a:r>
              <a:rPr lang="en-US" sz="2800" b="1" dirty="0">
                <a:solidFill>
                  <a:srgbClr val="990011"/>
                </a:solidFill>
                <a:latin typeface="Arial" pitchFamily="34" charset="0"/>
                <a:ea typeface="Arial" pitchFamily="34" charset="-122"/>
                <a:cs typeface="Arial" pitchFamily="34" charset="-120"/>
              </a:rPr>
              <a:t>→</a:t>
            </a:r>
            <a:endParaRPr lang="en-US" sz="2800" dirty="0"/>
          </a:p>
        </p:txBody>
      </p:sp>
      <p:sp>
        <p:nvSpPr>
          <p:cNvPr id="15" name="Shape 11"/>
          <p:cNvSpPr/>
          <p:nvPr/>
        </p:nvSpPr>
        <p:spPr>
          <a:xfrm>
            <a:off x="6400800" y="1828800"/>
            <a:ext cx="2560320" cy="2834640"/>
          </a:xfrm>
          <a:prstGeom prst="roundRect">
            <a:avLst>
              <a:gd name="adj" fmla="val 4286"/>
            </a:avLst>
          </a:prstGeom>
          <a:solidFill>
            <a:srgbClr val="FCF6F5"/>
          </a:solidFill>
          <a:ln w="12700">
            <a:solidFill>
              <a:srgbClr val="E3D5D3"/>
            </a:solidFill>
            <a:prstDash val="solid"/>
          </a:ln>
        </p:spPr>
      </p:sp>
      <p:sp>
        <p:nvSpPr>
          <p:cNvPr id="16" name="Shape 12"/>
          <p:cNvSpPr/>
          <p:nvPr/>
        </p:nvSpPr>
        <p:spPr>
          <a:xfrm>
            <a:off x="7443216" y="2057400"/>
            <a:ext cx="566928" cy="566928"/>
          </a:xfrm>
          <a:prstGeom prst="ellipse">
            <a:avLst/>
          </a:prstGeom>
          <a:solidFill>
            <a:srgbClr val="990011"/>
          </a:solidFill>
          <a:ln/>
        </p:spPr>
      </p:sp>
      <p:pic>
        <p:nvPicPr>
          <p:cNvPr id="17" name="Image 2" descr="preencoded.png">    </p:cNvPr>
          <p:cNvPicPr>
            <a:picLocks noChangeAspect="1"/>
          </p:cNvPicPr>
          <p:nvPr/>
        </p:nvPicPr>
        <p:blipFill>
          <a:blip r:embed="rId3"/>
          <a:stretch>
            <a:fillRect/>
          </a:stretch>
        </p:blipFill>
        <p:spPr>
          <a:xfrm>
            <a:off x="7567940" y="2182124"/>
            <a:ext cx="317480" cy="317480"/>
          </a:xfrm>
          <a:prstGeom prst="rect">
            <a:avLst/>
          </a:prstGeom>
        </p:spPr>
      </p:pic>
      <p:sp>
        <p:nvSpPr>
          <p:cNvPr id="18" name="Text 13"/>
          <p:cNvSpPr txBox="1"/>
          <p:nvPr/>
        </p:nvSpPr>
        <p:spPr>
          <a:xfrm>
            <a:off x="6400800" y="2743200"/>
            <a:ext cx="2560320" cy="365760"/>
          </a:xfrm>
          <a:prstGeom prst="rect">
            <a:avLst/>
          </a:prstGeom>
          <a:noFill/>
          <a:ln/>
        </p:spPr>
        <p:txBody>
          <a:bodyPr wrap="square" lIns="0" tIns="0" rIns="0" bIns="0" rtlCol="0" anchor="ctr"/>
          <a:lstStyle/>
          <a:p>
            <a:pPr algn="ctr" indent="0" marL="0">
              <a:buNone/>
            </a:pPr>
            <a:r>
              <a:rPr lang="en-US" sz="1700" b="1" dirty="0">
                <a:solidFill>
                  <a:srgbClr val="2F3C7E"/>
                </a:solidFill>
                <a:latin typeface="Calibri" pitchFamily="34" charset="0"/>
                <a:ea typeface="Calibri" pitchFamily="34" charset="-122"/>
                <a:cs typeface="Calibri" pitchFamily="34" charset="-120"/>
              </a:rPr>
              <a:t>Mô hình ML</a:t>
            </a:r>
            <a:endParaRPr lang="en-US" sz="1700" dirty="0"/>
          </a:p>
        </p:txBody>
      </p:sp>
      <p:sp>
        <p:nvSpPr>
          <p:cNvPr id="19" name="Text 14"/>
          <p:cNvSpPr txBox="1"/>
          <p:nvPr/>
        </p:nvSpPr>
        <p:spPr>
          <a:xfrm>
            <a:off x="6537960" y="3154680"/>
            <a:ext cx="2286000" cy="1371600"/>
          </a:xfrm>
          <a:prstGeom prst="rect">
            <a:avLst/>
          </a:prstGeom>
          <a:noFill/>
          <a:ln/>
        </p:spPr>
        <p:txBody>
          <a:bodyPr wrap="square" lIns="0" tIns="0" rIns="0" bIns="0" rtlCol="0" anchor="ctr"/>
          <a:lstStyle/>
          <a:p>
            <a:pPr algn="ctr" indent="0" marL="0">
              <a:buNone/>
            </a:pPr>
            <a:r>
              <a:rPr lang="en-US" sz="1250" dirty="0">
                <a:solidFill>
                  <a:srgbClr val="444444"/>
                </a:solidFill>
                <a:latin typeface="Calibri" pitchFamily="34" charset="0"/>
                <a:ea typeface="Calibri" pitchFamily="34" charset="-122"/>
                <a:cs typeface="Calibri" pitchFamily="34" charset="-120"/>
              </a:rPr>
              <a:t>13 con số mô tả nhịp</a:t>
            </a:r>
            <a:endParaRPr lang="en-US" sz="1250" dirty="0"/>
          </a:p>
          <a:p>
            <a:pPr algn="ctr" indent="0" marL="0">
              <a:buNone/>
            </a:pPr>
            <a:r>
              <a:rPr lang="en-US" sz="1250" dirty="0">
                <a:solidFill>
                  <a:srgbClr val="444444"/>
                </a:solidFill>
                <a:latin typeface="Calibri" pitchFamily="34" charset="0"/>
                <a:ea typeface="Calibri" pitchFamily="34" charset="-122"/>
                <a:cs typeface="Calibri" pitchFamily="34" charset="-120"/>
              </a:rPr>
              <a:t>→ XGBoost trả lời:</a:t>
            </a:r>
            <a:endParaRPr lang="en-US" sz="1250" dirty="0"/>
          </a:p>
          <a:p>
            <a:pPr algn="ctr" indent="0" marL="0">
              <a:buNone/>
            </a:pPr>
            <a:r>
              <a:rPr lang="en-US" sz="1250" dirty="0">
                <a:solidFill>
                  <a:srgbClr val="444444"/>
                </a:solidFill>
                <a:latin typeface="Calibri" pitchFamily="34" charset="0"/>
                <a:ea typeface="Calibri" pitchFamily="34" charset="-122"/>
                <a:cs typeface="Calibri" pitchFamily="34" charset="-120"/>
              </a:rPr>
              <a:t>P(Rung Nhĩ) = ?</a:t>
            </a:r>
            <a:endParaRPr lang="en-US" sz="1250" dirty="0"/>
          </a:p>
        </p:txBody>
      </p:sp>
      <p:sp>
        <p:nvSpPr>
          <p:cNvPr id="20" name="Text 15"/>
          <p:cNvSpPr txBox="1"/>
          <p:nvPr/>
        </p:nvSpPr>
        <p:spPr>
          <a:xfrm>
            <a:off x="8942832" y="2926080"/>
            <a:ext cx="457200" cy="548640"/>
          </a:xfrm>
          <a:prstGeom prst="rect">
            <a:avLst/>
          </a:prstGeom>
          <a:noFill/>
          <a:ln/>
        </p:spPr>
        <p:txBody>
          <a:bodyPr wrap="square" lIns="0" tIns="0" rIns="0" bIns="0" rtlCol="0" anchor="ctr"/>
          <a:lstStyle/>
          <a:p>
            <a:pPr algn="ctr" indent="0" marL="0">
              <a:buNone/>
            </a:pPr>
            <a:r>
              <a:rPr lang="en-US" sz="2800" b="1" dirty="0">
                <a:solidFill>
                  <a:srgbClr val="990011"/>
                </a:solidFill>
                <a:latin typeface="Arial" pitchFamily="34" charset="0"/>
                <a:ea typeface="Arial" pitchFamily="34" charset="-122"/>
                <a:cs typeface="Arial" pitchFamily="34" charset="-120"/>
              </a:rPr>
              <a:t>→</a:t>
            </a:r>
            <a:endParaRPr lang="en-US" sz="2800" dirty="0"/>
          </a:p>
        </p:txBody>
      </p:sp>
      <p:sp>
        <p:nvSpPr>
          <p:cNvPr id="21" name="Shape 16"/>
          <p:cNvSpPr/>
          <p:nvPr/>
        </p:nvSpPr>
        <p:spPr>
          <a:xfrm>
            <a:off x="9326880" y="1828800"/>
            <a:ext cx="2560320" cy="2834640"/>
          </a:xfrm>
          <a:prstGeom prst="roundRect">
            <a:avLst>
              <a:gd name="adj" fmla="val 4286"/>
            </a:avLst>
          </a:prstGeom>
          <a:solidFill>
            <a:srgbClr val="FCF6F5"/>
          </a:solidFill>
          <a:ln w="12700">
            <a:solidFill>
              <a:srgbClr val="E3D5D3"/>
            </a:solidFill>
            <a:prstDash val="solid"/>
          </a:ln>
        </p:spPr>
      </p:sp>
      <p:sp>
        <p:nvSpPr>
          <p:cNvPr id="22" name="Shape 17"/>
          <p:cNvSpPr/>
          <p:nvPr/>
        </p:nvSpPr>
        <p:spPr>
          <a:xfrm>
            <a:off x="10369296" y="2057400"/>
            <a:ext cx="566928" cy="566928"/>
          </a:xfrm>
          <a:prstGeom prst="ellipse">
            <a:avLst/>
          </a:prstGeom>
          <a:solidFill>
            <a:srgbClr val="2F3C7E"/>
          </a:solidFill>
          <a:ln/>
        </p:spPr>
      </p:sp>
      <p:pic>
        <p:nvPicPr>
          <p:cNvPr id="23" name="Image 3" descr="preencoded.png">    </p:cNvPr>
          <p:cNvPicPr>
            <a:picLocks noChangeAspect="1"/>
          </p:cNvPicPr>
          <p:nvPr/>
        </p:nvPicPr>
        <p:blipFill>
          <a:blip r:embed="rId4"/>
          <a:stretch>
            <a:fillRect/>
          </a:stretch>
        </p:blipFill>
        <p:spPr>
          <a:xfrm>
            <a:off x="10494020" y="2182124"/>
            <a:ext cx="317480" cy="317480"/>
          </a:xfrm>
          <a:prstGeom prst="rect">
            <a:avLst/>
          </a:prstGeom>
        </p:spPr>
      </p:pic>
      <p:sp>
        <p:nvSpPr>
          <p:cNvPr id="24" name="Text 18"/>
          <p:cNvSpPr txBox="1"/>
          <p:nvPr/>
        </p:nvSpPr>
        <p:spPr>
          <a:xfrm>
            <a:off x="9326880" y="2743200"/>
            <a:ext cx="2560320" cy="365760"/>
          </a:xfrm>
          <a:prstGeom prst="rect">
            <a:avLst/>
          </a:prstGeom>
          <a:noFill/>
          <a:ln/>
        </p:spPr>
        <p:txBody>
          <a:bodyPr wrap="square" lIns="0" tIns="0" rIns="0" bIns="0" rtlCol="0" anchor="ctr"/>
          <a:lstStyle/>
          <a:p>
            <a:pPr algn="ctr" indent="0" marL="0">
              <a:buNone/>
            </a:pPr>
            <a:r>
              <a:rPr lang="en-US" sz="1700" b="1" dirty="0">
                <a:solidFill>
                  <a:srgbClr val="2F3C7E"/>
                </a:solidFill>
                <a:latin typeface="Calibri" pitchFamily="34" charset="0"/>
                <a:ea typeface="Calibri" pitchFamily="34" charset="-122"/>
                <a:cs typeface="Calibri" pitchFamily="34" charset="-120"/>
              </a:rPr>
              <a:t>Bác sĩ &amp; App</a:t>
            </a:r>
            <a:endParaRPr lang="en-US" sz="1700" dirty="0"/>
          </a:p>
        </p:txBody>
      </p:sp>
      <p:sp>
        <p:nvSpPr>
          <p:cNvPr id="25" name="Text 19"/>
          <p:cNvSpPr txBox="1"/>
          <p:nvPr/>
        </p:nvSpPr>
        <p:spPr>
          <a:xfrm>
            <a:off x="9464040" y="3154680"/>
            <a:ext cx="2286000" cy="1371600"/>
          </a:xfrm>
          <a:prstGeom prst="rect">
            <a:avLst/>
          </a:prstGeom>
          <a:noFill/>
          <a:ln/>
        </p:spPr>
        <p:txBody>
          <a:bodyPr wrap="square" lIns="0" tIns="0" rIns="0" bIns="0" rtlCol="0" anchor="ctr"/>
          <a:lstStyle/>
          <a:p>
            <a:pPr algn="ctr" indent="0" marL="0">
              <a:buNone/>
            </a:pPr>
            <a:r>
              <a:rPr lang="en-US" sz="1250" dirty="0">
                <a:solidFill>
                  <a:srgbClr val="444444"/>
                </a:solidFill>
                <a:latin typeface="Calibri" pitchFamily="34" charset="0"/>
                <a:ea typeface="Calibri" pitchFamily="34" charset="-122"/>
                <a:cs typeface="Calibri" pitchFamily="34" charset="-120"/>
              </a:rPr>
              <a:t>P cao → chuông báo</a:t>
            </a:r>
            <a:endParaRPr lang="en-US" sz="1250" dirty="0"/>
          </a:p>
          <a:p>
            <a:pPr algn="ctr" indent="0" marL="0">
              <a:buNone/>
            </a:pPr>
            <a:r>
              <a:rPr lang="en-US" sz="1250" dirty="0">
                <a:solidFill>
                  <a:srgbClr val="444444"/>
                </a:solidFill>
                <a:latin typeface="Calibri" pitchFamily="34" charset="0"/>
                <a:ea typeface="Calibri" pitchFamily="34" charset="-122"/>
                <a:cs typeface="Calibri" pitchFamily="34" charset="-120"/>
              </a:rPr>
              <a:t>bác sĩ xem lại,</a:t>
            </a:r>
            <a:endParaRPr lang="en-US" sz="1250" dirty="0"/>
          </a:p>
          <a:p>
            <a:pPr algn="ctr" indent="0" marL="0">
              <a:buNone/>
            </a:pPr>
            <a:r>
              <a:rPr lang="en-US" sz="1250" dirty="0">
                <a:solidFill>
                  <a:srgbClr val="444444"/>
                </a:solidFill>
                <a:latin typeface="Calibri" pitchFamily="34" charset="0"/>
                <a:ea typeface="Calibri" pitchFamily="34" charset="-122"/>
                <a:cs typeface="Calibri" pitchFamily="34" charset="-120"/>
              </a:rPr>
              <a:t>hồ sơ đầy đủ đồ thị</a:t>
            </a:r>
            <a:endParaRPr lang="en-US" sz="1250" dirty="0"/>
          </a:p>
        </p:txBody>
      </p:sp>
      <p:sp>
        <p:nvSpPr>
          <p:cNvPr id="26" name="Text 20"/>
          <p:cNvSpPr txBox="1"/>
          <p:nvPr/>
        </p:nvSpPr>
        <p:spPr>
          <a:xfrm>
            <a:off x="640080" y="5212080"/>
            <a:ext cx="10908792" cy="457200"/>
          </a:xfrm>
          <a:prstGeom prst="rect">
            <a:avLst/>
          </a:prstGeom>
          <a:noFill/>
          <a:ln/>
        </p:spPr>
        <p:txBody>
          <a:bodyPr wrap="square" lIns="0" tIns="0" rIns="0" bIns="0"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Phần ML = hộp thứ 2 và thứ 3. Slide sau trả lời: vì sao đo nhịp tim lại phát hiện được bệnh?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Rung Nhĩ (AFib) — kẻ thù giấu mặt</a:t>
            </a:r>
            <a:endParaRPr lang="en-US" sz="3000" dirty="0"/>
          </a:p>
        </p:txBody>
      </p:sp>
      <p:sp>
        <p:nvSpPr>
          <p:cNvPr id="3" name="Text 1"/>
          <p:cNvSpPr txBox="1"/>
          <p:nvPr/>
        </p:nvSpPr>
        <p:spPr>
          <a:xfrm>
            <a:off x="640080" y="1280160"/>
            <a:ext cx="6583680" cy="4114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Loạn nhịp tim phổ biến nhất thế giới: tâm nhĩ 'rung' hỗn loạn thay vì bóp đều nhịp nhàng</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Nguy hiểm vì thầm lặng: nhiều người KHÔNG có triệu chứng, chỉ phát hiện khi đã đột quỵ</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Đến rồi đi từng đợt (AF kịch phát) → khám 5 phút ở viện dễ 'trượt', đeo 24/7 mới bắt được</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Dấu vết duy nhất để máy nhận ra: KHOẢNG CÁCH giữa các nhịp tim trở nên hỗn loạn, không quy luật</a:t>
            </a:r>
            <a:endParaRPr lang="en-US" sz="1500" dirty="0"/>
          </a:p>
        </p:txBody>
      </p:sp>
      <p:sp>
        <p:nvSpPr>
          <p:cNvPr id="4" name="Text 2"/>
          <p:cNvSpPr txBox="1"/>
          <p:nvPr/>
        </p:nvSpPr>
        <p:spPr>
          <a:xfrm>
            <a:off x="7589520" y="1554480"/>
            <a:ext cx="3931920" cy="822960"/>
          </a:xfrm>
          <a:prstGeom prst="rect">
            <a:avLst/>
          </a:prstGeom>
          <a:noFill/>
          <a:ln/>
        </p:spPr>
        <p:txBody>
          <a:bodyPr wrap="square" lIns="0" tIns="0" rIns="0" bIns="0" rtlCol="0" anchor="ctr"/>
          <a:lstStyle/>
          <a:p>
            <a:pPr algn="ctr" indent="0" marL="0">
              <a:buNone/>
            </a:pPr>
            <a:r>
              <a:rPr lang="en-US" sz="4400" b="1" dirty="0">
                <a:solidFill>
                  <a:srgbClr val="990011"/>
                </a:solidFill>
                <a:latin typeface="Arial" pitchFamily="34" charset="0"/>
                <a:ea typeface="Arial" pitchFamily="34" charset="-122"/>
                <a:cs typeface="Arial" pitchFamily="34" charset="-120"/>
              </a:rPr>
              <a:t>×5</a:t>
            </a:r>
            <a:endParaRPr lang="en-US" sz="4400" dirty="0"/>
          </a:p>
        </p:txBody>
      </p:sp>
      <p:sp>
        <p:nvSpPr>
          <p:cNvPr id="5" name="Text 3"/>
          <p:cNvSpPr txBox="1"/>
          <p:nvPr/>
        </p:nvSpPr>
        <p:spPr>
          <a:xfrm>
            <a:off x="7589520" y="2395728"/>
            <a:ext cx="393192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nguy cơ đột quỵ so với người thường</a:t>
            </a:r>
            <a:endParaRPr lang="en-US" sz="1300" dirty="0"/>
          </a:p>
        </p:txBody>
      </p:sp>
      <p:sp>
        <p:nvSpPr>
          <p:cNvPr id="6" name="Text 4"/>
          <p:cNvSpPr txBox="1"/>
          <p:nvPr/>
        </p:nvSpPr>
        <p:spPr>
          <a:xfrm>
            <a:off x="7589520" y="3291840"/>
            <a:ext cx="3931920" cy="822960"/>
          </a:xfrm>
          <a:prstGeom prst="rect">
            <a:avLst/>
          </a:prstGeom>
          <a:noFill/>
          <a:ln/>
        </p:spPr>
        <p:txBody>
          <a:bodyPr wrap="square" lIns="0" tIns="0" rIns="0" bIns="0" rtlCol="0" anchor="ctr"/>
          <a:lstStyle/>
          <a:p>
            <a:pPr algn="ctr" indent="0" marL="0">
              <a:buNone/>
            </a:pPr>
            <a:r>
              <a:rPr lang="en-US" sz="4400" b="1" dirty="0">
                <a:solidFill>
                  <a:srgbClr val="2F3C7E"/>
                </a:solidFill>
                <a:latin typeface="Arial" pitchFamily="34" charset="0"/>
                <a:ea typeface="Arial" pitchFamily="34" charset="-122"/>
                <a:cs typeface="Arial" pitchFamily="34" charset="-120"/>
              </a:rPr>
              <a:t>24/7</a:t>
            </a:r>
            <a:endParaRPr lang="en-US" sz="4400" dirty="0"/>
          </a:p>
        </p:txBody>
      </p:sp>
      <p:sp>
        <p:nvSpPr>
          <p:cNvPr id="7" name="Text 5"/>
          <p:cNvSpPr txBox="1"/>
          <p:nvPr/>
        </p:nvSpPr>
        <p:spPr>
          <a:xfrm>
            <a:off x="7589520" y="4133088"/>
            <a:ext cx="393192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lý do vòng đeo có giá trị hơn 1 lần khám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PPG — đo nhịp tim bằng ánh sáng</a:t>
            </a:r>
            <a:endParaRPr lang="en-US" sz="3000" dirty="0"/>
          </a:p>
        </p:txBody>
      </p:sp>
      <p:sp>
        <p:nvSpPr>
          <p:cNvPr id="3" name="Text 1"/>
          <p:cNvSpPr txBox="1"/>
          <p:nvPr/>
        </p:nvSpPr>
        <p:spPr>
          <a:xfrm>
            <a:off x="640080" y="1051560"/>
            <a:ext cx="10908792" cy="411480"/>
          </a:xfrm>
          <a:prstGeom prst="rect">
            <a:avLst/>
          </a:prstGeom>
          <a:noFill/>
          <a:ln/>
        </p:spPr>
        <p:txBody>
          <a:bodyPr wrap="square" lIns="0" tIns="0" rIns="0" bIns="0" rtlCol="0" anchor="ctr"/>
          <a:lstStyle/>
          <a:p>
            <a:pPr indent="0" marL="0">
              <a:buNone/>
            </a:pPr>
            <a:r>
              <a:rPr lang="en-US" sz="1450" dirty="0">
                <a:solidFill>
                  <a:srgbClr val="333333"/>
                </a:solidFill>
                <a:latin typeface="Calibri" pitchFamily="34" charset="0"/>
                <a:ea typeface="Calibri" pitchFamily="34" charset="-122"/>
                <a:cs typeface="Calibri" pitchFamily="34" charset="-120"/>
              </a:rPr>
              <a:t>Sóng mạch THẬT của một bệnh nhân (dữ liệu MIMIC) — mỗi tam giác đỏ là một nhịp tim pipeline dò được:</a:t>
            </a:r>
            <a:endParaRPr lang="en-US" sz="1450" dirty="0"/>
          </a:p>
        </p:txBody>
      </p:sp>
      <p:pic>
        <p:nvPicPr>
          <p:cNvPr id="4" name="Image 0" descr="C:/Users/Admin/AppData/Local/Temp/claude/D--Projects-HealthSense/f9ec15a3-f454-4ee6-860d-29e10e4b7747/scratchpad/slides_figs/ppg_beats.png">    </p:cNvPr>
          <p:cNvPicPr>
            <a:picLocks noChangeAspect="1"/>
          </p:cNvPicPr>
          <p:nvPr/>
        </p:nvPicPr>
        <p:blipFill>
          <a:blip r:embed="rId1"/>
          <a:srcRect l="0" r="0" t="0" b="0"/>
          <a:stretch/>
        </p:blipFill>
        <p:spPr>
          <a:xfrm>
            <a:off x="502920" y="1554480"/>
            <a:ext cx="11183112" cy="3291840"/>
          </a:xfrm>
          <a:prstGeom prst="rect">
            <a:avLst/>
          </a:prstGeom>
        </p:spPr>
      </p:pic>
      <p:sp>
        <p:nvSpPr>
          <p:cNvPr id="5" name="Text 2"/>
          <p:cNvSpPr txBox="1"/>
          <p:nvPr/>
        </p:nvSpPr>
        <p:spPr>
          <a:xfrm>
            <a:off x="640080" y="5029200"/>
            <a:ext cx="10908792"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LED chiếu vào da — máu chảy qua theo từng nhịp làm lượng ánh sáng phản xạ thay đổi</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Vòng HealthSense (MAX30102) cho sóng cùng chất lượng — đã kiểm chứng bằng phiên đo thật của nhóm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Nguyên liệu: 2 bộ dữ liệu công khai, 60 bệnh nhân</a:t>
            </a:r>
            <a:endParaRPr lang="en-US" sz="3000" dirty="0"/>
          </a:p>
        </p:txBody>
      </p:sp>
      <p:sp>
        <p:nvSpPr>
          <p:cNvPr id="3" name="Shape 1"/>
          <p:cNvSpPr/>
          <p:nvPr/>
        </p:nvSpPr>
        <p:spPr>
          <a:xfrm>
            <a:off x="548640" y="1371600"/>
            <a:ext cx="5394960" cy="4206240"/>
          </a:xfrm>
          <a:prstGeom prst="roundRect">
            <a:avLst>
              <a:gd name="adj" fmla="val 2609"/>
            </a:avLst>
          </a:prstGeom>
          <a:solidFill>
            <a:srgbClr val="FCF6F5"/>
          </a:solidFill>
          <a:ln w="12700">
            <a:solidFill>
              <a:srgbClr val="E3D5D3"/>
            </a:solidFill>
            <a:prstDash val="solid"/>
          </a:ln>
        </p:spPr>
      </p:sp>
      <p:sp>
        <p:nvSpPr>
          <p:cNvPr id="4" name="Text 2"/>
          <p:cNvSpPr txBox="1"/>
          <p:nvPr/>
        </p:nvSpPr>
        <p:spPr>
          <a:xfrm>
            <a:off x="822960" y="1600200"/>
            <a:ext cx="4846320" cy="457200"/>
          </a:xfrm>
          <a:prstGeom prst="rect">
            <a:avLst/>
          </a:prstGeom>
          <a:noFill/>
          <a:ln/>
        </p:spPr>
        <p:txBody>
          <a:bodyPr wrap="square" lIns="0" tIns="0" rIns="0" bIns="0" rtlCol="0" anchor="ctr"/>
          <a:lstStyle/>
          <a:p>
            <a:pPr indent="0" marL="0">
              <a:buNone/>
            </a:pPr>
            <a:r>
              <a:rPr lang="en-US" sz="1900" b="1" dirty="0">
                <a:solidFill>
                  <a:srgbClr val="990011"/>
                </a:solidFill>
                <a:latin typeface="Cambria" pitchFamily="34" charset="0"/>
                <a:ea typeface="Cambria" pitchFamily="34" charset="-122"/>
                <a:cs typeface="Cambria" pitchFamily="34" charset="-120"/>
              </a:rPr>
              <a:t>MIMIC PERform AF  (PPG)</a:t>
            </a:r>
            <a:endParaRPr lang="en-US" sz="1900" dirty="0"/>
          </a:p>
        </p:txBody>
      </p:sp>
      <p:sp>
        <p:nvSpPr>
          <p:cNvPr id="5" name="Text 3"/>
          <p:cNvSpPr txBox="1"/>
          <p:nvPr/>
        </p:nvSpPr>
        <p:spPr>
          <a:xfrm>
            <a:off x="868680" y="2148840"/>
            <a:ext cx="4800600" cy="329184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333333"/>
                </a:solidFill>
                <a:latin typeface="Calibri" pitchFamily="34" charset="0"/>
                <a:ea typeface="Calibri" pitchFamily="34" charset="-122"/>
                <a:cs typeface="Calibri" pitchFamily="34" charset="-120"/>
              </a:rPr>
              <a:t>35 bệnh nhân ICU: 19 Rung Nhĩ + 16 bình thường</a:t>
            </a:r>
            <a:endParaRPr lang="en-US" sz="1350" dirty="0"/>
          </a:p>
          <a:p>
            <a:pPr marL="342900" indent="-342900">
              <a:spcAft>
                <a:spcPts val="700"/>
              </a:spcAft>
              <a:buSzPct val="100000"/>
              <a:buChar char="•"/>
            </a:pPr>
            <a:r>
              <a:rPr lang="en-US" sz="1350" dirty="0">
                <a:solidFill>
                  <a:srgbClr val="333333"/>
                </a:solidFill>
                <a:latin typeface="Calibri" pitchFamily="34" charset="0"/>
                <a:ea typeface="Calibri" pitchFamily="34" charset="-122"/>
                <a:cs typeface="Calibri" pitchFamily="34" charset="-120"/>
              </a:rPr>
              <a:t>Mỗi người 20 phút PPG kẹp ngón, 125 Hz</a:t>
            </a:r>
            <a:endParaRPr lang="en-US" sz="1350" dirty="0"/>
          </a:p>
          <a:p>
            <a:pPr marL="342900" indent="-342900">
              <a:spcAft>
                <a:spcPts val="700"/>
              </a:spcAft>
              <a:buSzPct val="100000"/>
              <a:buChar char="•"/>
            </a:pPr>
            <a:r>
              <a:rPr lang="en-US" sz="1350" dirty="0">
                <a:solidFill>
                  <a:srgbClr val="333333"/>
                </a:solidFill>
                <a:latin typeface="Calibri" pitchFamily="34" charset="0"/>
                <a:ea typeface="Calibri" pitchFamily="34" charset="-122"/>
                <a:cs typeface="Calibri" pitchFamily="34" charset="-120"/>
              </a:rPr>
              <a:t>Có cả ECG ghi song song → sau này dùng làm 'đáp án chuẩn' để kiểm chứng</a:t>
            </a:r>
            <a:endParaRPr lang="en-US" sz="1350" dirty="0"/>
          </a:p>
          <a:p>
            <a:pPr marL="342900" indent="-342900">
              <a:spcAft>
                <a:spcPts val="700"/>
              </a:spcAft>
              <a:buSzPct val="100000"/>
              <a:buChar char="•"/>
            </a:pPr>
            <a:r>
              <a:rPr lang="en-US" sz="1350" dirty="0">
                <a:solidFill>
                  <a:srgbClr val="333333"/>
                </a:solidFill>
                <a:latin typeface="Calibri" pitchFamily="34" charset="0"/>
                <a:ea typeface="Calibri" pitchFamily="34" charset="-122"/>
                <a:cs typeface="Calibri" pitchFamily="34" charset="-120"/>
              </a:rPr>
              <a:t>Vai trò: sân tập chính + bài thi LOSO</a:t>
            </a:r>
            <a:endParaRPr lang="en-US" sz="1350" dirty="0"/>
          </a:p>
        </p:txBody>
      </p:sp>
      <p:sp>
        <p:nvSpPr>
          <p:cNvPr id="6" name="Shape 4"/>
          <p:cNvSpPr/>
          <p:nvPr/>
        </p:nvSpPr>
        <p:spPr>
          <a:xfrm>
            <a:off x="6263640" y="1371600"/>
            <a:ext cx="5394960" cy="4206240"/>
          </a:xfrm>
          <a:prstGeom prst="roundRect">
            <a:avLst>
              <a:gd name="adj" fmla="val 2609"/>
            </a:avLst>
          </a:prstGeom>
          <a:solidFill>
            <a:srgbClr val="FCF6F5"/>
          </a:solidFill>
          <a:ln w="12700">
            <a:solidFill>
              <a:srgbClr val="E3D5D3"/>
            </a:solidFill>
            <a:prstDash val="solid"/>
          </a:ln>
        </p:spPr>
      </p:sp>
      <p:sp>
        <p:nvSpPr>
          <p:cNvPr id="7" name="Text 5"/>
          <p:cNvSpPr txBox="1"/>
          <p:nvPr/>
        </p:nvSpPr>
        <p:spPr>
          <a:xfrm>
            <a:off x="6537960" y="1600200"/>
            <a:ext cx="4846320" cy="457200"/>
          </a:xfrm>
          <a:prstGeom prst="rect">
            <a:avLst/>
          </a:prstGeom>
          <a:noFill/>
          <a:ln/>
        </p:spPr>
        <p:txBody>
          <a:bodyPr wrap="square" lIns="0" tIns="0" rIns="0" bIns="0" rtlCol="0" anchor="ctr"/>
          <a:lstStyle/>
          <a:p>
            <a:pPr indent="0" marL="0">
              <a:buNone/>
            </a:pPr>
            <a:r>
              <a:rPr lang="en-US" sz="1900" b="1" dirty="0">
                <a:solidFill>
                  <a:srgbClr val="2F3C7E"/>
                </a:solidFill>
                <a:latin typeface="Cambria" pitchFamily="34" charset="0"/>
                <a:ea typeface="Cambria" pitchFamily="34" charset="-122"/>
                <a:cs typeface="Cambria" pitchFamily="34" charset="-120"/>
              </a:rPr>
              <a:t>MIT-BIH AFDB  (ECG)</a:t>
            </a:r>
            <a:endParaRPr lang="en-US" sz="1900" dirty="0"/>
          </a:p>
        </p:txBody>
      </p:sp>
      <p:sp>
        <p:nvSpPr>
          <p:cNvPr id="8" name="Text 6"/>
          <p:cNvSpPr txBox="1"/>
          <p:nvPr/>
        </p:nvSpPr>
        <p:spPr>
          <a:xfrm>
            <a:off x="6583680" y="2148840"/>
            <a:ext cx="4800600" cy="329184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333333"/>
                </a:solidFill>
                <a:latin typeface="Calibri" pitchFamily="34" charset="0"/>
                <a:ea typeface="Calibri" pitchFamily="34" charset="-122"/>
                <a:cs typeface="Calibri" pitchFamily="34" charset="-120"/>
              </a:rPr>
              <a:t>25 bệnh nhân, ~10 GIỜ ghi mỗi người</a:t>
            </a:r>
            <a:endParaRPr lang="en-US" sz="1350" dirty="0"/>
          </a:p>
          <a:p>
            <a:pPr marL="342900" indent="-342900">
              <a:spcAft>
                <a:spcPts val="700"/>
              </a:spcAft>
              <a:buSzPct val="100000"/>
              <a:buChar char="•"/>
            </a:pPr>
            <a:r>
              <a:rPr lang="en-US" sz="1350" dirty="0">
                <a:solidFill>
                  <a:srgbClr val="333333"/>
                </a:solidFill>
                <a:latin typeface="Calibri" pitchFamily="34" charset="0"/>
                <a:ea typeface="Calibri" pitchFamily="34" charset="-122"/>
                <a:cs typeface="Calibri" pitchFamily="34" charset="-120"/>
              </a:rPr>
              <a:t>AF kịch phát: cùng 1 người lúc bệnh lúc thường — nhãn theo thời điểm</a:t>
            </a:r>
            <a:endParaRPr lang="en-US" sz="1350" dirty="0"/>
          </a:p>
          <a:p>
            <a:pPr marL="342900" indent="-342900">
              <a:spcAft>
                <a:spcPts val="700"/>
              </a:spcAft>
              <a:buSzPct val="100000"/>
              <a:buChar char="•"/>
            </a:pPr>
            <a:r>
              <a:rPr lang="en-US" sz="1350" dirty="0">
                <a:solidFill>
                  <a:srgbClr val="333333"/>
                </a:solidFill>
                <a:latin typeface="Calibri" pitchFamily="34" charset="0"/>
                <a:ea typeface="Calibri" pitchFamily="34" charset="-122"/>
                <a:cs typeface="Calibri" pitchFamily="34" charset="-120"/>
              </a:rPr>
              <a:t>Mẹo hay: chỉ tải file đánh dấu nhịp (vài MB) thay vì 800 MB sóng thô</a:t>
            </a:r>
            <a:endParaRPr lang="en-US" sz="1350" dirty="0"/>
          </a:p>
          <a:p>
            <a:pPr marL="342900" indent="-342900">
              <a:spcAft>
                <a:spcPts val="700"/>
              </a:spcAft>
              <a:buSzPct val="100000"/>
              <a:buChar char="•"/>
            </a:pPr>
            <a:r>
              <a:rPr lang="en-US" sz="1350" dirty="0">
                <a:solidFill>
                  <a:srgbClr val="333333"/>
                </a:solidFill>
                <a:latin typeface="Calibri" pitchFamily="34" charset="0"/>
                <a:ea typeface="Calibri" pitchFamily="34" charset="-122"/>
                <a:cs typeface="Calibri" pitchFamily="34" charset="-120"/>
              </a:rPr>
              <a:t>Vai trò: bài thi 'sân khách' (cross-dataset)</a:t>
            </a:r>
            <a:endParaRPr lang="en-US" sz="1350" dirty="0"/>
          </a:p>
        </p:txBody>
      </p:sp>
      <p:sp>
        <p:nvSpPr>
          <p:cNvPr id="9" name="Text 7"/>
          <p:cNvSpPr txBox="1"/>
          <p:nvPr/>
        </p:nvSpPr>
        <p:spPr>
          <a:xfrm>
            <a:off x="640080" y="5806440"/>
            <a:ext cx="10908792" cy="457200"/>
          </a:xfrm>
          <a:prstGeom prst="rect">
            <a:avLst/>
          </a:prstGeom>
          <a:noFill/>
          <a:ln/>
        </p:spPr>
        <p:txBody>
          <a:bodyPr wrap="square" lIns="0" tIns="0" rIns="0" bIns="0" rtlCol="0" anchor="ctr"/>
          <a:lstStyle/>
          <a:p>
            <a:pPr algn="ctr" indent="0" marL="0">
              <a:buNone/>
            </a:pPr>
            <a:r>
              <a:rPr lang="en-US" sz="1400" b="1" dirty="0">
                <a:solidFill>
                  <a:srgbClr val="990011"/>
                </a:solidFill>
                <a:latin typeface="Calibri" pitchFamily="34" charset="0"/>
                <a:ea typeface="Calibri" pitchFamily="34" charset="-122"/>
                <a:cs typeface="Calibri" pitchFamily="34" charset="-120"/>
              </a:rPr>
              <a:t>Cắt mỗi bản ghi thành cửa sổ 30 giây → tổng 33.033 mẫu học, MỖI MẪU GẮN MÃ BỆNH NHÂN (record_id)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Bước chế biến: từ sóng thành dãy số NN</a:t>
            </a:r>
            <a:endParaRPr lang="en-US" sz="3000" dirty="0"/>
          </a:p>
        </p:txBody>
      </p:sp>
      <p:sp>
        <p:nvSpPr>
          <p:cNvPr id="3" name="Shape 1"/>
          <p:cNvSpPr/>
          <p:nvPr/>
        </p:nvSpPr>
        <p:spPr>
          <a:xfrm>
            <a:off x="640080" y="1554480"/>
            <a:ext cx="3429000" cy="2651760"/>
          </a:xfrm>
          <a:prstGeom prst="roundRect">
            <a:avLst>
              <a:gd name="adj" fmla="val 4138"/>
            </a:avLst>
          </a:prstGeom>
          <a:solidFill>
            <a:srgbClr val="FCF6F5"/>
          </a:solidFill>
          <a:ln w="12700">
            <a:solidFill>
              <a:srgbClr val="E3D5D3"/>
            </a:solidFill>
            <a:prstDash val="solid"/>
          </a:ln>
        </p:spPr>
      </p:sp>
      <p:sp>
        <p:nvSpPr>
          <p:cNvPr id="4" name="Text 2"/>
          <p:cNvSpPr txBox="1"/>
          <p:nvPr/>
        </p:nvSpPr>
        <p:spPr>
          <a:xfrm>
            <a:off x="868680" y="1783080"/>
            <a:ext cx="3017520" cy="685800"/>
          </a:xfrm>
          <a:prstGeom prst="rect">
            <a:avLst/>
          </a:prstGeom>
          <a:noFill/>
          <a:ln/>
        </p:spPr>
        <p:txBody>
          <a:bodyPr wrap="square" lIns="0" tIns="0" rIns="0" bIns="0"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1. Lọc bandpass 0.5–8 Hz</a:t>
            </a:r>
            <a:endParaRPr lang="en-US" sz="1550" dirty="0"/>
          </a:p>
        </p:txBody>
      </p:sp>
      <p:sp>
        <p:nvSpPr>
          <p:cNvPr id="5" name="Text 3"/>
          <p:cNvSpPr txBox="1"/>
          <p:nvPr/>
        </p:nvSpPr>
        <p:spPr>
          <a:xfrm>
            <a:off x="868680" y="2514600"/>
            <a:ext cx="3017520" cy="1554480"/>
          </a:xfrm>
          <a:prstGeom prst="rect">
            <a:avLst/>
          </a:prstGeom>
          <a:noFill/>
          <a:ln/>
        </p:spPr>
        <p:txBody>
          <a:bodyPr wrap="square" lIns="0" tIns="0" rIns="0" bIns="0" rtlCol="0" anchor="ctr"/>
          <a:lstStyle/>
          <a:p>
            <a:pPr indent="0" marL="0">
              <a:buNone/>
            </a:pPr>
            <a:r>
              <a:rPr lang="en-US" sz="1250" dirty="0">
                <a:solidFill>
                  <a:srgbClr val="444444"/>
                </a:solidFill>
                <a:latin typeface="Calibri" pitchFamily="34" charset="0"/>
                <a:ea typeface="Calibri" pitchFamily="34" charset="-122"/>
                <a:cs typeface="Calibri" pitchFamily="34" charset="-120"/>
              </a:rPr>
              <a:t>Cắt phần trôi chậm (thở, cử động)</a:t>
            </a:r>
            <a:endParaRPr lang="en-US" sz="1250" dirty="0"/>
          </a:p>
          <a:p>
            <a:pPr indent="0" marL="0">
              <a:buNone/>
            </a:pPr>
            <a:r>
              <a:rPr lang="en-US" sz="1250" dirty="0">
                <a:solidFill>
                  <a:srgbClr val="444444"/>
                </a:solidFill>
                <a:latin typeface="Calibri" pitchFamily="34" charset="0"/>
                <a:ea typeface="Calibri" pitchFamily="34" charset="-122"/>
                <a:cs typeface="Calibri" pitchFamily="34" charset="-120"/>
              </a:rPr>
              <a:t>và rung nhanh (nhiễu điện) —</a:t>
            </a:r>
            <a:endParaRPr lang="en-US" sz="1250" dirty="0"/>
          </a:p>
          <a:p>
            <a:pPr indent="0" marL="0">
              <a:buNone/>
            </a:pPr>
            <a:r>
              <a:rPr lang="en-US" sz="1250" dirty="0">
                <a:solidFill>
                  <a:srgbClr val="444444"/>
                </a:solidFill>
                <a:latin typeface="Calibri" pitchFamily="34" charset="0"/>
                <a:ea typeface="Calibri" pitchFamily="34" charset="-122"/>
                <a:cs typeface="Calibri" pitchFamily="34" charset="-120"/>
              </a:rPr>
              <a:t>chỉ giữ dải chứa nhịp tim</a:t>
            </a:r>
            <a:endParaRPr lang="en-US" sz="1250" dirty="0"/>
          </a:p>
        </p:txBody>
      </p:sp>
      <p:sp>
        <p:nvSpPr>
          <p:cNvPr id="6" name="Text 4"/>
          <p:cNvSpPr txBox="1"/>
          <p:nvPr/>
        </p:nvSpPr>
        <p:spPr>
          <a:xfrm>
            <a:off x="4023360" y="2606040"/>
            <a:ext cx="457200" cy="548640"/>
          </a:xfrm>
          <a:prstGeom prst="rect">
            <a:avLst/>
          </a:prstGeom>
          <a:noFill/>
          <a:ln/>
        </p:spPr>
        <p:txBody>
          <a:bodyPr wrap="square" lIns="0" tIns="0" rIns="0" bIns="0" rtlCol="0" anchor="ctr"/>
          <a:lstStyle/>
          <a:p>
            <a:pPr algn="ctr" indent="0" marL="0">
              <a:buNone/>
            </a:pPr>
            <a:r>
              <a:rPr lang="en-US" sz="2600" b="1" dirty="0">
                <a:solidFill>
                  <a:srgbClr val="990011"/>
                </a:solidFill>
                <a:latin typeface="Arial" pitchFamily="34" charset="0"/>
                <a:ea typeface="Arial" pitchFamily="34" charset="-122"/>
                <a:cs typeface="Arial" pitchFamily="34" charset="-120"/>
              </a:rPr>
              <a:t>→</a:t>
            </a:r>
            <a:endParaRPr lang="en-US" sz="2600" dirty="0"/>
          </a:p>
        </p:txBody>
      </p:sp>
      <p:sp>
        <p:nvSpPr>
          <p:cNvPr id="7" name="Shape 5"/>
          <p:cNvSpPr/>
          <p:nvPr/>
        </p:nvSpPr>
        <p:spPr>
          <a:xfrm>
            <a:off x="4434840" y="1554480"/>
            <a:ext cx="3429000" cy="2651760"/>
          </a:xfrm>
          <a:prstGeom prst="roundRect">
            <a:avLst>
              <a:gd name="adj" fmla="val 4138"/>
            </a:avLst>
          </a:prstGeom>
          <a:solidFill>
            <a:srgbClr val="FCF6F5"/>
          </a:solidFill>
          <a:ln w="12700">
            <a:solidFill>
              <a:srgbClr val="E3D5D3"/>
            </a:solidFill>
            <a:prstDash val="solid"/>
          </a:ln>
        </p:spPr>
      </p:sp>
      <p:sp>
        <p:nvSpPr>
          <p:cNvPr id="8" name="Text 6"/>
          <p:cNvSpPr txBox="1"/>
          <p:nvPr/>
        </p:nvSpPr>
        <p:spPr>
          <a:xfrm>
            <a:off x="4663440" y="1783080"/>
            <a:ext cx="3017520" cy="685800"/>
          </a:xfrm>
          <a:prstGeom prst="rect">
            <a:avLst/>
          </a:prstGeom>
          <a:noFill/>
          <a:ln/>
        </p:spPr>
        <p:txBody>
          <a:bodyPr wrap="square" lIns="0" tIns="0" rIns="0" bIns="0"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2. Dò đỉnh (mỗi đỉnh = 1 nhịp)</a:t>
            </a:r>
            <a:endParaRPr lang="en-US" sz="1550" dirty="0"/>
          </a:p>
        </p:txBody>
      </p:sp>
      <p:sp>
        <p:nvSpPr>
          <p:cNvPr id="9" name="Text 7"/>
          <p:cNvSpPr txBox="1"/>
          <p:nvPr/>
        </p:nvSpPr>
        <p:spPr>
          <a:xfrm>
            <a:off x="4663440" y="2514600"/>
            <a:ext cx="3017520" cy="1554480"/>
          </a:xfrm>
          <a:prstGeom prst="rect">
            <a:avLst/>
          </a:prstGeom>
          <a:noFill/>
          <a:ln/>
        </p:spPr>
        <p:txBody>
          <a:bodyPr wrap="square" lIns="0" tIns="0" rIns="0" bIns="0" rtlCol="0" anchor="ctr"/>
          <a:lstStyle/>
          <a:p>
            <a:pPr indent="0" marL="0">
              <a:buNone/>
            </a:pPr>
            <a:r>
              <a:rPr lang="en-US" sz="1250" dirty="0">
                <a:solidFill>
                  <a:srgbClr val="444444"/>
                </a:solidFill>
                <a:latin typeface="Calibri" pitchFamily="34" charset="0"/>
                <a:ea typeface="Calibri" pitchFamily="34" charset="-122"/>
                <a:cs typeface="Calibri" pitchFamily="34" charset="-120"/>
              </a:rPr>
              <a:t>Chuẩn hóa z-score rồi tìm đỉnh</a:t>
            </a:r>
            <a:endParaRPr lang="en-US" sz="1250" dirty="0"/>
          </a:p>
          <a:p>
            <a:pPr indent="0" marL="0">
              <a:buNone/>
            </a:pPr>
            <a:r>
              <a:rPr lang="en-US" sz="1250" dirty="0">
                <a:solidFill>
                  <a:srgbClr val="444444"/>
                </a:solidFill>
                <a:latin typeface="Calibri" pitchFamily="34" charset="0"/>
                <a:ea typeface="Calibri" pitchFamily="34" charset="-122"/>
                <a:cs typeface="Calibri" pitchFamily="34" charset="-120"/>
              </a:rPr>
              <a:t>đủ 'nhô' — không phụ thuộc</a:t>
            </a:r>
            <a:endParaRPr lang="en-US" sz="1250" dirty="0"/>
          </a:p>
          <a:p>
            <a:pPr indent="0" marL="0">
              <a:buNone/>
            </a:pPr>
            <a:r>
              <a:rPr lang="en-US" sz="1250" dirty="0">
                <a:solidFill>
                  <a:srgbClr val="444444"/>
                </a:solidFill>
                <a:latin typeface="Calibri" pitchFamily="34" charset="0"/>
                <a:ea typeface="Calibri" pitchFamily="34" charset="-122"/>
                <a:cs typeface="Calibri" pitchFamily="34" charset="-120"/>
              </a:rPr>
              <a:t>biên độ từng người, từng máy</a:t>
            </a:r>
            <a:endParaRPr lang="en-US" sz="1250" dirty="0"/>
          </a:p>
        </p:txBody>
      </p:sp>
      <p:sp>
        <p:nvSpPr>
          <p:cNvPr id="10" name="Text 8"/>
          <p:cNvSpPr txBox="1"/>
          <p:nvPr/>
        </p:nvSpPr>
        <p:spPr>
          <a:xfrm>
            <a:off x="7818120" y="2606040"/>
            <a:ext cx="457200" cy="548640"/>
          </a:xfrm>
          <a:prstGeom prst="rect">
            <a:avLst/>
          </a:prstGeom>
          <a:noFill/>
          <a:ln/>
        </p:spPr>
        <p:txBody>
          <a:bodyPr wrap="square" lIns="0" tIns="0" rIns="0" bIns="0" rtlCol="0" anchor="ctr"/>
          <a:lstStyle/>
          <a:p>
            <a:pPr algn="ctr" indent="0" marL="0">
              <a:buNone/>
            </a:pPr>
            <a:r>
              <a:rPr lang="en-US" sz="2600" b="1" dirty="0">
                <a:solidFill>
                  <a:srgbClr val="990011"/>
                </a:solidFill>
                <a:latin typeface="Arial" pitchFamily="34" charset="0"/>
                <a:ea typeface="Arial" pitchFamily="34" charset="-122"/>
                <a:cs typeface="Arial" pitchFamily="34" charset="-120"/>
              </a:rPr>
              <a:t>→</a:t>
            </a:r>
            <a:endParaRPr lang="en-US" sz="2600" dirty="0"/>
          </a:p>
        </p:txBody>
      </p:sp>
      <p:sp>
        <p:nvSpPr>
          <p:cNvPr id="11" name="Shape 9"/>
          <p:cNvSpPr/>
          <p:nvPr/>
        </p:nvSpPr>
        <p:spPr>
          <a:xfrm>
            <a:off x="8229600" y="1554480"/>
            <a:ext cx="3429000" cy="2651760"/>
          </a:xfrm>
          <a:prstGeom prst="roundRect">
            <a:avLst>
              <a:gd name="adj" fmla="val 4138"/>
            </a:avLst>
          </a:prstGeom>
          <a:solidFill>
            <a:srgbClr val="2F3C7E"/>
          </a:solidFill>
          <a:ln w="12700">
            <a:solidFill>
              <a:srgbClr val="E3D5D3"/>
            </a:solidFill>
            <a:prstDash val="solid"/>
          </a:ln>
        </p:spPr>
      </p:sp>
      <p:sp>
        <p:nvSpPr>
          <p:cNvPr id="12" name="Text 10"/>
          <p:cNvSpPr txBox="1"/>
          <p:nvPr/>
        </p:nvSpPr>
        <p:spPr>
          <a:xfrm>
            <a:off x="8458200" y="1783080"/>
            <a:ext cx="3017520" cy="6858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3. Chuỗi NN (ms)</a:t>
            </a:r>
            <a:endParaRPr lang="en-US" sz="1550" dirty="0"/>
          </a:p>
        </p:txBody>
      </p:sp>
      <p:sp>
        <p:nvSpPr>
          <p:cNvPr id="13" name="Text 11"/>
          <p:cNvSpPr txBox="1"/>
          <p:nvPr/>
        </p:nvSpPr>
        <p:spPr>
          <a:xfrm>
            <a:off x="8458200" y="2514600"/>
            <a:ext cx="3017520" cy="1554480"/>
          </a:xfrm>
          <a:prstGeom prst="rect">
            <a:avLst/>
          </a:prstGeom>
          <a:noFill/>
          <a:ln/>
        </p:spPr>
        <p:txBody>
          <a:bodyPr wrap="square" lIns="0" tIns="0" rIns="0" bIns="0" rtlCol="0" anchor="ctr"/>
          <a:lstStyle/>
          <a:p>
            <a:pPr indent="0" marL="0">
              <a:buNone/>
            </a:pPr>
            <a:r>
              <a:rPr lang="en-US" sz="1250" dirty="0">
                <a:solidFill>
                  <a:srgbClr val="DDE2F5"/>
                </a:solidFill>
                <a:latin typeface="Calibri" pitchFamily="34" charset="0"/>
                <a:ea typeface="Calibri" pitchFamily="34" charset="-122"/>
                <a:cs typeface="Calibri" pitchFamily="34" charset="-120"/>
              </a:rPr>
              <a:t>Khoảng cách 2 nhịp liên tiếp.</a:t>
            </a:r>
            <a:endParaRPr lang="en-US" sz="1250" dirty="0"/>
          </a:p>
          <a:p>
            <a:pPr indent="0" marL="0">
              <a:buNone/>
            </a:pPr>
            <a:r>
              <a:rPr lang="en-US" sz="1250" dirty="0">
                <a:solidFill>
                  <a:srgbClr val="DDE2F5"/>
                </a:solidFill>
                <a:latin typeface="Calibri" pitchFamily="34" charset="0"/>
                <a:ea typeface="Calibri" pitchFamily="34" charset="-122"/>
                <a:cs typeface="Calibri" pitchFamily="34" charset="-120"/>
              </a:rPr>
              <a:t>Chỉ loại giá trị phi sinh lý</a:t>
            </a:r>
            <a:endParaRPr lang="en-US" sz="1250" dirty="0"/>
          </a:p>
          <a:p>
            <a:pPr indent="0" marL="0">
              <a:buNone/>
            </a:pPr>
            <a:r>
              <a:rPr lang="en-US" sz="1250" dirty="0">
                <a:solidFill>
                  <a:srgbClr val="DDE2F5"/>
                </a:solidFill>
                <a:latin typeface="Calibri" pitchFamily="34" charset="0"/>
                <a:ea typeface="Calibri" pitchFamily="34" charset="-122"/>
                <a:cs typeface="Calibri" pitchFamily="34" charset="-120"/>
              </a:rPr>
              <a:t>(&lt;250ms, &gt;2000ms)</a:t>
            </a:r>
            <a:endParaRPr lang="en-US" sz="1250" dirty="0"/>
          </a:p>
        </p:txBody>
      </p:sp>
      <p:sp>
        <p:nvSpPr>
          <p:cNvPr id="14" name="Shape 12"/>
          <p:cNvSpPr/>
          <p:nvPr/>
        </p:nvSpPr>
        <p:spPr>
          <a:xfrm>
            <a:off x="640080" y="4572000"/>
            <a:ext cx="10908792" cy="1371600"/>
          </a:xfrm>
          <a:prstGeom prst="roundRect">
            <a:avLst>
              <a:gd name="adj" fmla="val 8000"/>
            </a:avLst>
          </a:prstGeom>
          <a:solidFill>
            <a:srgbClr val="FCF6F5"/>
          </a:solidFill>
          <a:ln w="15875">
            <a:solidFill>
              <a:srgbClr val="990011"/>
            </a:solidFill>
            <a:prstDash val="solid"/>
          </a:ln>
        </p:spPr>
      </p:sp>
      <p:sp>
        <p:nvSpPr>
          <p:cNvPr id="15" name="Shape 13"/>
          <p:cNvSpPr/>
          <p:nvPr/>
        </p:nvSpPr>
        <p:spPr>
          <a:xfrm>
            <a:off x="914400" y="4892040"/>
            <a:ext cx="502920" cy="502920"/>
          </a:xfrm>
          <a:prstGeom prst="ellipse">
            <a:avLst/>
          </a:prstGeom>
          <a:solidFill>
            <a:srgbClr val="990011"/>
          </a:solidFill>
          <a:ln/>
        </p:spPr>
      </p:sp>
      <p:pic>
        <p:nvPicPr>
          <p:cNvPr id="16" name="Image 0" descr="preencoded.png">    </p:cNvPr>
          <p:cNvPicPr>
            <a:picLocks noChangeAspect="1"/>
          </p:cNvPicPr>
          <p:nvPr/>
        </p:nvPicPr>
        <p:blipFill>
          <a:blip r:embed="rId1"/>
          <a:stretch>
            <a:fillRect/>
          </a:stretch>
        </p:blipFill>
        <p:spPr>
          <a:xfrm>
            <a:off x="1025042" y="5002682"/>
            <a:ext cx="281635" cy="281635"/>
          </a:xfrm>
          <a:prstGeom prst="rect">
            <a:avLst/>
          </a:prstGeom>
        </p:spPr>
      </p:pic>
      <p:sp>
        <p:nvSpPr>
          <p:cNvPr id="17" name="Text 14"/>
          <p:cNvSpPr txBox="1"/>
          <p:nvPr/>
        </p:nvSpPr>
        <p:spPr>
          <a:xfrm>
            <a:off x="1600200" y="4709160"/>
            <a:ext cx="9720072" cy="1143000"/>
          </a:xfrm>
          <a:prstGeom prst="rect">
            <a:avLst/>
          </a:prstGeom>
          <a:noFill/>
          <a:ln/>
        </p:spPr>
        <p:txBody>
          <a:bodyPr wrap="square" lIns="0" tIns="0" rIns="0" bIns="0" rtlCol="0" anchor="ctr"/>
          <a:lstStyle/>
          <a:p>
            <a:pPr indent="0" marL="0">
              <a:buNone/>
            </a:pPr>
            <a:r>
              <a:rPr lang="en-US" sz="1400" b="1" dirty="0">
                <a:solidFill>
                  <a:srgbClr val="990011"/>
                </a:solidFill>
                <a:latin typeface="Calibri" pitchFamily="34" charset="0"/>
                <a:ea typeface="Calibri" pitchFamily="34" charset="-122"/>
                <a:cs typeface="Calibri" pitchFamily="34" charset="-120"/>
              </a:rPr>
              <a:t>Chi tiết tinh tế nhất: </a:t>
            </a:r>
            <a:pPr indent="0" marL="0">
              <a:buNone/>
            </a:pPr>
            <a:r>
              <a:rPr lang="en-US" sz="1400" dirty="0">
                <a:solidFill>
                  <a:srgbClr val="333333"/>
                </a:solidFill>
                <a:latin typeface="Calibri" pitchFamily="34" charset="0"/>
                <a:ea typeface="Calibri" pitchFamily="34" charset="-122"/>
                <a:cs typeface="Calibri" pitchFamily="34" charset="-120"/>
              </a:rPr>
              <a:t>với Rung Nhĩ, sự BẤT THƯỜNG của chuỗi NN chính là dấu hiệu bệnh — nên tuyệt đối KHÔNG lọc 'nhịp lệch median' như sách thường dạy. Lọc quá tay = xóa sạch bằng chứng.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Nhìn dữ liệu bằng mắt: đều vs loạn</a:t>
            </a:r>
            <a:endParaRPr lang="en-US" sz="3000" dirty="0"/>
          </a:p>
        </p:txBody>
      </p:sp>
      <p:pic>
        <p:nvPicPr>
          <p:cNvPr id="3" name="Image 0" descr="C:/Users/Admin/AppData/Local/Temp/claude/D--Projects-HealthSense/f9ec15a3-f454-4ee6-860d-29e10e4b7747/scratchpad/slides_figs/tachogram_compare.png">    </p:cNvPr>
          <p:cNvPicPr>
            <a:picLocks noChangeAspect="1"/>
          </p:cNvPicPr>
          <p:nvPr/>
        </p:nvPicPr>
        <p:blipFill>
          <a:blip r:embed="rId1"/>
          <a:srcRect l="0" r="0" t="0" b="0"/>
          <a:stretch/>
        </p:blipFill>
        <p:spPr>
          <a:xfrm>
            <a:off x="548640" y="1188720"/>
            <a:ext cx="11091672" cy="4206240"/>
          </a:xfrm>
          <a:prstGeom prst="rect">
            <a:avLst/>
          </a:prstGeom>
        </p:spPr>
      </p:pic>
      <p:sp>
        <p:nvSpPr>
          <p:cNvPr id="4" name="Text 1"/>
          <p:cNvSpPr txBox="1"/>
          <p:nvPr/>
        </p:nvSpPr>
        <p:spPr>
          <a:xfrm>
            <a:off x="640080" y="5532120"/>
            <a:ext cx="10908792" cy="7772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Trái: NN dao động nhẹ quanh một mức. Phải: nhảy loạn 400–1200ms không quy luật — chưa cần AI, mắt thường đã phân biệt được. Việc của ML là biến trực giác này thành CON SỐ đo được.</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Máy học 'ăn' gì? — từ dãy NN đến bảng số</a:t>
            </a:r>
            <a:endParaRPr lang="en-US" sz="3000" dirty="0"/>
          </a:p>
        </p:txBody>
      </p:sp>
      <p:sp>
        <p:nvSpPr>
          <p:cNvPr id="3" name="Shape 1"/>
          <p:cNvSpPr/>
          <p:nvPr/>
        </p:nvSpPr>
        <p:spPr>
          <a:xfrm>
            <a:off x="640080" y="1188720"/>
            <a:ext cx="4937760" cy="1115568"/>
          </a:xfrm>
          <a:prstGeom prst="roundRect">
            <a:avLst>
              <a:gd name="adj" fmla="val 9836"/>
            </a:avLst>
          </a:prstGeom>
          <a:solidFill>
            <a:srgbClr val="FCF6F5"/>
          </a:solidFill>
          <a:ln w="12700">
            <a:solidFill>
              <a:srgbClr val="E3D5D3"/>
            </a:solidFill>
            <a:prstDash val="solid"/>
          </a:ln>
        </p:spPr>
      </p:sp>
      <p:sp>
        <p:nvSpPr>
          <p:cNvPr id="4" name="Text 2"/>
          <p:cNvSpPr txBox="1"/>
          <p:nvPr/>
        </p:nvSpPr>
        <p:spPr>
          <a:xfrm>
            <a:off x="914400" y="1298448"/>
            <a:ext cx="4480560" cy="365760"/>
          </a:xfrm>
          <a:prstGeom prst="rect">
            <a:avLst/>
          </a:prstGeom>
          <a:noFill/>
          <a:ln/>
        </p:spPr>
        <p:txBody>
          <a:bodyPr wrap="square" lIns="0" tIns="0" rIns="0" bIns="0"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1. Chuỗi NN thô</a:t>
            </a:r>
            <a:endParaRPr lang="en-US" sz="1500" dirty="0"/>
          </a:p>
        </p:txBody>
      </p:sp>
      <p:sp>
        <p:nvSpPr>
          <p:cNvPr id="5" name="Text 3"/>
          <p:cNvSpPr txBox="1"/>
          <p:nvPr/>
        </p:nvSpPr>
        <p:spPr>
          <a:xfrm>
            <a:off x="914400" y="1609344"/>
            <a:ext cx="4480560" cy="640080"/>
          </a:xfrm>
          <a:prstGeom prst="rect">
            <a:avLst/>
          </a:prstGeom>
          <a:noFill/>
          <a:ln/>
        </p:spPr>
        <p:txBody>
          <a:bodyPr wrap="square" lIns="0" tIns="0" rIns="0" bIns="0" rtlCol="0" anchor="ctr"/>
          <a:lstStyle/>
          <a:p>
            <a:pPr indent="0" marL="0">
              <a:buNone/>
            </a:pPr>
            <a:r>
              <a:rPr lang="en-US" sz="1150" dirty="0">
                <a:solidFill>
                  <a:srgbClr val="444444"/>
                </a:solidFill>
                <a:latin typeface="Calibri" pitchFamily="34" charset="0"/>
                <a:ea typeface="Calibri" pitchFamily="34" charset="-122"/>
                <a:cs typeface="Calibri" pitchFamily="34" charset="-120"/>
              </a:rPr>
              <a:t>Mỗi cửa sổ 30s cho ~35 số...</a:t>
            </a:r>
            <a:endParaRPr lang="en-US" sz="1150" dirty="0"/>
          </a:p>
          <a:p>
            <a:pPr indent="0" marL="0">
              <a:buNone/>
            </a:pPr>
            <a:r>
              <a:rPr lang="en-US" sz="1150" dirty="0">
                <a:solidFill>
                  <a:srgbClr val="444444"/>
                </a:solidFill>
                <a:latin typeface="Calibri" pitchFamily="34" charset="0"/>
                <a:ea typeface="Calibri" pitchFamily="34" charset="-122"/>
                <a:cs typeface="Calibri" pitchFamily="34" charset="-120"/>
              </a:rPr>
              <a:t>nhưng MỖI LẦN MỖI KHÁC:</a:t>
            </a:r>
            <a:endParaRPr lang="en-US" sz="1150" dirty="0"/>
          </a:p>
          <a:p>
            <a:pPr indent="0" marL="0">
              <a:buNone/>
            </a:pPr>
            <a:r>
              <a:rPr lang="en-US" sz="1150" dirty="0">
                <a:solidFill>
                  <a:srgbClr val="444444"/>
                </a:solidFill>
                <a:latin typeface="Calibri" pitchFamily="34" charset="0"/>
                <a:ea typeface="Calibri" pitchFamily="34" charset="-122"/>
                <a:cs typeface="Calibri" pitchFamily="34" charset="-120"/>
              </a:rPr>
              <a:t>lần 35 số, lần 41, lần 28</a:t>
            </a:r>
            <a:endParaRPr lang="en-US" sz="1150" dirty="0"/>
          </a:p>
        </p:txBody>
      </p:sp>
      <p:sp>
        <p:nvSpPr>
          <p:cNvPr id="6" name="Text 4"/>
          <p:cNvSpPr txBox="1"/>
          <p:nvPr/>
        </p:nvSpPr>
        <p:spPr>
          <a:xfrm>
            <a:off x="2926080" y="2286000"/>
            <a:ext cx="365760" cy="164592"/>
          </a:xfrm>
          <a:prstGeom prst="rect">
            <a:avLst/>
          </a:prstGeom>
          <a:noFill/>
          <a:ln/>
        </p:spPr>
        <p:txBody>
          <a:bodyPr wrap="square" lIns="0" tIns="0" rIns="0" bIns="0" rtlCol="0" anchor="ctr"/>
          <a:lstStyle/>
          <a:p>
            <a:pPr algn="ctr" indent="0" marL="0">
              <a:buNone/>
            </a:pPr>
            <a:r>
              <a:rPr lang="en-US" sz="1300" b="1" dirty="0">
                <a:solidFill>
                  <a:srgbClr val="990011"/>
                </a:solidFill>
                <a:latin typeface="Arial" pitchFamily="34" charset="0"/>
                <a:ea typeface="Arial" pitchFamily="34" charset="-122"/>
                <a:cs typeface="Arial" pitchFamily="34" charset="-120"/>
              </a:rPr>
              <a:t>↓</a:t>
            </a:r>
            <a:endParaRPr lang="en-US" sz="1300" dirty="0"/>
          </a:p>
        </p:txBody>
      </p:sp>
      <p:sp>
        <p:nvSpPr>
          <p:cNvPr id="7" name="Shape 5"/>
          <p:cNvSpPr/>
          <p:nvPr/>
        </p:nvSpPr>
        <p:spPr>
          <a:xfrm>
            <a:off x="640080" y="2450592"/>
            <a:ext cx="4937760" cy="1115568"/>
          </a:xfrm>
          <a:prstGeom prst="roundRect">
            <a:avLst>
              <a:gd name="adj" fmla="val 9836"/>
            </a:avLst>
          </a:prstGeom>
          <a:solidFill>
            <a:srgbClr val="FCF6F5"/>
          </a:solidFill>
          <a:ln w="12700">
            <a:solidFill>
              <a:srgbClr val="E3D5D3"/>
            </a:solidFill>
            <a:prstDash val="solid"/>
          </a:ln>
        </p:spPr>
      </p:sp>
      <p:sp>
        <p:nvSpPr>
          <p:cNvPr id="8" name="Text 6"/>
          <p:cNvSpPr txBox="1"/>
          <p:nvPr/>
        </p:nvSpPr>
        <p:spPr>
          <a:xfrm>
            <a:off x="914400" y="2560320"/>
            <a:ext cx="4480560" cy="365760"/>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2. Vấn đề</a:t>
            </a:r>
            <a:endParaRPr lang="en-US" sz="1500" dirty="0"/>
          </a:p>
        </p:txBody>
      </p:sp>
      <p:sp>
        <p:nvSpPr>
          <p:cNvPr id="9" name="Text 7"/>
          <p:cNvSpPr txBox="1"/>
          <p:nvPr/>
        </p:nvSpPr>
        <p:spPr>
          <a:xfrm>
            <a:off x="914400" y="2871216"/>
            <a:ext cx="4480560" cy="640080"/>
          </a:xfrm>
          <a:prstGeom prst="rect">
            <a:avLst/>
          </a:prstGeom>
          <a:noFill/>
          <a:ln/>
        </p:spPr>
        <p:txBody>
          <a:bodyPr wrap="square" lIns="0" tIns="0" rIns="0" bIns="0" rtlCol="0" anchor="ctr"/>
          <a:lstStyle/>
          <a:p>
            <a:pPr indent="0" marL="0">
              <a:buNone/>
            </a:pPr>
            <a:r>
              <a:rPr lang="en-US" sz="1150" dirty="0">
                <a:solidFill>
                  <a:srgbClr val="444444"/>
                </a:solidFill>
                <a:latin typeface="Calibri" pitchFamily="34" charset="0"/>
                <a:ea typeface="Calibri" pitchFamily="34" charset="-122"/>
                <a:cs typeface="Calibri" pitchFamily="34" charset="-120"/>
              </a:rPr>
              <a:t>Mô hình ML cần đầu vào có</a:t>
            </a:r>
            <a:endParaRPr lang="en-US" sz="1150" dirty="0"/>
          </a:p>
          <a:p>
            <a:pPr indent="0" marL="0">
              <a:buNone/>
            </a:pPr>
            <a:r>
              <a:rPr lang="en-US" sz="1150" dirty="0">
                <a:solidFill>
                  <a:srgbClr val="444444"/>
                </a:solidFill>
                <a:latin typeface="Calibri" pitchFamily="34" charset="0"/>
                <a:ea typeface="Calibri" pitchFamily="34" charset="-122"/>
                <a:cs typeface="Calibri" pitchFamily="34" charset="-120"/>
              </a:rPr>
              <a:t>SỐ CỘT CỐ ĐỊNH — không đút</a:t>
            </a:r>
            <a:endParaRPr lang="en-US" sz="1150" dirty="0"/>
          </a:p>
          <a:p>
            <a:pPr indent="0" marL="0">
              <a:buNone/>
            </a:pPr>
            <a:r>
              <a:rPr lang="en-US" sz="1150" dirty="0">
                <a:solidFill>
                  <a:srgbClr val="444444"/>
                </a:solidFill>
                <a:latin typeface="Calibri" pitchFamily="34" charset="0"/>
                <a:ea typeface="Calibri" pitchFamily="34" charset="-122"/>
                <a:cs typeface="Calibri" pitchFamily="34" charset="-120"/>
              </a:rPr>
              <a:t>thẳng dãy dài ngắn thất thường</a:t>
            </a:r>
            <a:endParaRPr lang="en-US" sz="1150" dirty="0"/>
          </a:p>
        </p:txBody>
      </p:sp>
      <p:sp>
        <p:nvSpPr>
          <p:cNvPr id="10" name="Text 8"/>
          <p:cNvSpPr txBox="1"/>
          <p:nvPr/>
        </p:nvSpPr>
        <p:spPr>
          <a:xfrm>
            <a:off x="2926080" y="3547872"/>
            <a:ext cx="365760" cy="164592"/>
          </a:xfrm>
          <a:prstGeom prst="rect">
            <a:avLst/>
          </a:prstGeom>
          <a:noFill/>
          <a:ln/>
        </p:spPr>
        <p:txBody>
          <a:bodyPr wrap="square" lIns="0" tIns="0" rIns="0" bIns="0" rtlCol="0" anchor="ctr"/>
          <a:lstStyle/>
          <a:p>
            <a:pPr algn="ctr" indent="0" marL="0">
              <a:buNone/>
            </a:pPr>
            <a:r>
              <a:rPr lang="en-US" sz="1300" b="1" dirty="0">
                <a:solidFill>
                  <a:srgbClr val="990011"/>
                </a:solidFill>
                <a:latin typeface="Arial" pitchFamily="34" charset="0"/>
                <a:ea typeface="Arial" pitchFamily="34" charset="-122"/>
                <a:cs typeface="Arial" pitchFamily="34" charset="-120"/>
              </a:rPr>
              <a:t>↓</a:t>
            </a:r>
            <a:endParaRPr lang="en-US" sz="1300" dirty="0"/>
          </a:p>
        </p:txBody>
      </p:sp>
      <p:sp>
        <p:nvSpPr>
          <p:cNvPr id="11" name="Shape 9"/>
          <p:cNvSpPr/>
          <p:nvPr/>
        </p:nvSpPr>
        <p:spPr>
          <a:xfrm>
            <a:off x="640080" y="3712464"/>
            <a:ext cx="4937760" cy="1115568"/>
          </a:xfrm>
          <a:prstGeom prst="roundRect">
            <a:avLst>
              <a:gd name="adj" fmla="val 9836"/>
            </a:avLst>
          </a:prstGeom>
          <a:solidFill>
            <a:srgbClr val="2F3C7E"/>
          </a:solidFill>
          <a:ln w="12700">
            <a:solidFill>
              <a:srgbClr val="E3D5D3"/>
            </a:solidFill>
            <a:prstDash val="solid"/>
          </a:ln>
        </p:spPr>
      </p:sp>
      <p:sp>
        <p:nvSpPr>
          <p:cNvPr id="12" name="Text 10"/>
          <p:cNvSpPr txBox="1"/>
          <p:nvPr/>
        </p:nvSpPr>
        <p:spPr>
          <a:xfrm>
            <a:off x="914400" y="3822192"/>
            <a:ext cx="44805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Giải pháp: TÓM TẮT</a:t>
            </a:r>
            <a:endParaRPr lang="en-US" sz="1500" dirty="0"/>
          </a:p>
        </p:txBody>
      </p:sp>
      <p:sp>
        <p:nvSpPr>
          <p:cNvPr id="13" name="Text 11"/>
          <p:cNvSpPr txBox="1"/>
          <p:nvPr/>
        </p:nvSpPr>
        <p:spPr>
          <a:xfrm>
            <a:off x="914400" y="4133088"/>
            <a:ext cx="4480560" cy="640080"/>
          </a:xfrm>
          <a:prstGeom prst="rect">
            <a:avLst/>
          </a:prstGeom>
          <a:noFill/>
          <a:ln/>
        </p:spPr>
        <p:txBody>
          <a:bodyPr wrap="square" lIns="0" tIns="0" rIns="0" bIns="0" rtlCol="0" anchor="ctr"/>
          <a:lstStyle/>
          <a:p>
            <a:pPr indent="0" marL="0">
              <a:buNone/>
            </a:pPr>
            <a:r>
              <a:rPr lang="en-US" sz="1150" dirty="0">
                <a:solidFill>
                  <a:srgbClr val="DDE2F5"/>
                </a:solidFill>
                <a:latin typeface="Calibri" pitchFamily="34" charset="0"/>
                <a:ea typeface="Calibri" pitchFamily="34" charset="-122"/>
                <a:cs typeface="Calibri" pitchFamily="34" charset="-120"/>
              </a:rPr>
              <a:t>Nén cả dãy thành các chỉ số</a:t>
            </a:r>
            <a:endParaRPr lang="en-US" sz="1150" dirty="0"/>
          </a:p>
          <a:p>
            <a:pPr indent="0" marL="0">
              <a:buNone/>
            </a:pPr>
            <a:r>
              <a:rPr lang="en-US" sz="1150" dirty="0">
                <a:solidFill>
                  <a:srgbClr val="DDE2F5"/>
                </a:solidFill>
                <a:latin typeface="Calibri" pitchFamily="34" charset="0"/>
                <a:ea typeface="Calibri" pitchFamily="34" charset="-122"/>
                <a:cs typeface="Calibri" pitchFamily="34" charset="-120"/>
              </a:rPr>
              <a:t>thống kê mô tả — dãy nào</a:t>
            </a:r>
            <a:endParaRPr lang="en-US" sz="1150" dirty="0"/>
          </a:p>
          <a:p>
            <a:pPr indent="0" marL="0">
              <a:buNone/>
            </a:pPr>
            <a:r>
              <a:rPr lang="en-US" sz="1150" dirty="0">
                <a:solidFill>
                  <a:srgbClr val="DDE2F5"/>
                </a:solidFill>
                <a:latin typeface="Calibri" pitchFamily="34" charset="0"/>
                <a:ea typeface="Calibri" pitchFamily="34" charset="-122"/>
                <a:cs typeface="Calibri" pitchFamily="34" charset="-120"/>
              </a:rPr>
              <a:t>cũng ra đúng 16 con số</a:t>
            </a:r>
            <a:endParaRPr lang="en-US" sz="1150" dirty="0"/>
          </a:p>
        </p:txBody>
      </p:sp>
      <p:sp>
        <p:nvSpPr>
          <p:cNvPr id="14" name="Text 12"/>
          <p:cNvSpPr txBox="1"/>
          <p:nvPr/>
        </p:nvSpPr>
        <p:spPr>
          <a:xfrm>
            <a:off x="6035040" y="1234440"/>
            <a:ext cx="5669280" cy="36576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Kết quả: BẢNG dữ liệu — mỗi hàng = 1 cửa sổ 30 giây đã 'tóm tắt'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35040" y="1691640"/>
          <a:ext cx="5623560" cy="914400"/>
        </p:xfrm>
        <a:graphic>
          <a:graphicData uri="http://schemas.openxmlformats.org/drawingml/2006/table">
            <a:tbl>
              <a:tblPr/>
              <a:tblGrid>
                <a:gridCol w="1417320"/>
                <a:gridCol w="1051560"/>
                <a:gridCol w="960120"/>
                <a:gridCol w="1280160"/>
                <a:gridCol w="91440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record_id</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HR_mean</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RMSSD</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...14 cột nữa</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Nhãn</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r>
              <a:tr h="384048">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non_af_005</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60.1</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34.9</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Thường</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r>
              <a:tr h="384048">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non_af_005</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59.0</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25.6</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Thường</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r>
              <a:tr h="384048">
                <a:tc>
                  <a:txBody>
                    <a:bodyPr/>
                    <a:lstStyle/>
                    <a:p>
                      <a:pPr algn="ctr" indent="0" marL="0">
                        <a:buNone/>
                      </a:pPr>
                      <a:r>
                        <a:rPr lang="en-US" sz="1200" dirty="0">
                          <a:solidFill>
                            <a:srgbClr val="990011"/>
                          </a:solidFill>
                          <a:latin typeface="Calibri" pitchFamily="34" charset="0"/>
                          <a:ea typeface="Calibri" pitchFamily="34" charset="-122"/>
                          <a:cs typeface="Calibri" pitchFamily="34" charset="-120"/>
                        </a:rPr>
                        <a:t>af_003</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990011"/>
                          </a:solidFill>
                          <a:latin typeface="Calibri" pitchFamily="34" charset="0"/>
                          <a:ea typeface="Calibri" pitchFamily="34" charset="-122"/>
                          <a:cs typeface="Calibri" pitchFamily="34" charset="-120"/>
                        </a:rPr>
                        <a:t>78.2</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b="1" dirty="0">
                          <a:solidFill>
                            <a:srgbClr val="990011"/>
                          </a:solidFill>
                          <a:latin typeface="Calibri" pitchFamily="34" charset="0"/>
                          <a:ea typeface="Calibri" pitchFamily="34" charset="-122"/>
                          <a:cs typeface="Calibri" pitchFamily="34" charset="-120"/>
                        </a:rPr>
                        <a:t>295.2</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dirty="0">
                          <a:solidFill>
                            <a:srgbClr val="99001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ctr" indent="0" marL="0">
                        <a:buNone/>
                      </a:pPr>
                      <a:r>
                        <a:rPr lang="en-US" sz="1200" b="1" dirty="0">
                          <a:solidFill>
                            <a:srgbClr val="990011"/>
                          </a:solidFill>
                          <a:latin typeface="Calibri" pitchFamily="34" charset="0"/>
                          <a:ea typeface="Calibri" pitchFamily="34" charset="-122"/>
                          <a:cs typeface="Calibri" pitchFamily="34" charset="-120"/>
                        </a:rPr>
                        <a:t>AFib</a:t>
                      </a:r>
                      <a:endParaRPr lang="en-US" sz="12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r>
            </a:tbl>
          </a:graphicData>
        </a:graphic>
      </p:graphicFrame>
      <p:sp>
        <p:nvSpPr>
          <p:cNvPr id="16" name="Text 13"/>
          <p:cNvSpPr txBox="1"/>
          <p:nvPr/>
        </p:nvSpPr>
        <p:spPr>
          <a:xfrm>
            <a:off x="6035040" y="3520440"/>
            <a:ext cx="5669280" cy="6858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4.130 hàng (MIMIC) — thêm cột record_id để chia theo bệnh nhân. Đây mới là thứ đưa vào mô hình.</a:t>
            </a:r>
            <a:endParaRPr lang="en-US" sz="1200" dirty="0"/>
          </a:p>
        </p:txBody>
      </p:sp>
      <p:sp>
        <p:nvSpPr>
          <p:cNvPr id="17" name="Shape 14"/>
          <p:cNvSpPr/>
          <p:nvPr/>
        </p:nvSpPr>
        <p:spPr>
          <a:xfrm>
            <a:off x="640080" y="5029200"/>
            <a:ext cx="10908792" cy="1325880"/>
          </a:xfrm>
          <a:prstGeom prst="roundRect">
            <a:avLst>
              <a:gd name="adj" fmla="val 8276"/>
            </a:avLst>
          </a:prstGeom>
          <a:solidFill>
            <a:srgbClr val="FCF6F5"/>
          </a:solidFill>
          <a:ln w="15875">
            <a:solidFill>
              <a:srgbClr val="990011"/>
            </a:solidFill>
            <a:prstDash val="solid"/>
          </a:ln>
        </p:spPr>
      </p:sp>
      <p:sp>
        <p:nvSpPr>
          <p:cNvPr id="18" name="Shape 15"/>
          <p:cNvSpPr/>
          <p:nvPr/>
        </p:nvSpPr>
        <p:spPr>
          <a:xfrm>
            <a:off x="914400" y="5413248"/>
            <a:ext cx="502920" cy="502920"/>
          </a:xfrm>
          <a:prstGeom prst="ellipse">
            <a:avLst/>
          </a:prstGeom>
          <a:solidFill>
            <a:srgbClr val="990011"/>
          </a:solidFill>
          <a:ln/>
        </p:spPr>
      </p:sp>
      <p:pic>
        <p:nvPicPr>
          <p:cNvPr id="19" name="Image 0" descr="preencoded.png">    </p:cNvPr>
          <p:cNvPicPr>
            <a:picLocks noChangeAspect="1"/>
          </p:cNvPicPr>
          <p:nvPr/>
        </p:nvPicPr>
        <p:blipFill>
          <a:blip r:embed="rId1"/>
          <a:stretch>
            <a:fillRect/>
          </a:stretch>
        </p:blipFill>
        <p:spPr>
          <a:xfrm>
            <a:off x="1025042" y="5523890"/>
            <a:ext cx="281635" cy="281635"/>
          </a:xfrm>
          <a:prstGeom prst="rect">
            <a:avLst/>
          </a:prstGeom>
        </p:spPr>
      </p:pic>
      <p:sp>
        <p:nvSpPr>
          <p:cNvPr id="20" name="Text 16"/>
          <p:cNvSpPr txBox="1"/>
          <p:nvPr/>
        </p:nvSpPr>
        <p:spPr>
          <a:xfrm>
            <a:off x="1600200" y="5138928"/>
            <a:ext cx="9720072" cy="1143000"/>
          </a:xfrm>
          <a:prstGeom prst="rect">
            <a:avLst/>
          </a:prstGeom>
          <a:noFill/>
          <a:ln/>
        </p:spPr>
        <p:txBody>
          <a:bodyPr wrap="square" lIns="0" tIns="0" rIns="0" bIns="0" rtlCol="0" anchor="ctr"/>
          <a:lstStyle/>
          <a:p>
            <a:pPr indent="0" marL="0">
              <a:buNone/>
            </a:pPr>
            <a:r>
              <a:rPr lang="en-US" sz="1350" b="1" dirty="0">
                <a:solidFill>
                  <a:srgbClr val="990011"/>
                </a:solidFill>
                <a:latin typeface="Calibri" pitchFamily="34" charset="0"/>
                <a:ea typeface="Calibri" pitchFamily="34" charset="-122"/>
                <a:cs typeface="Calibri" pitchFamily="34" charset="-120"/>
              </a:rPr>
              <a:t>Dựa vào đâu ra đúng 16? </a:t>
            </a:r>
            <a:pPr indent="0" marL="0">
              <a:buNone/>
            </a:pPr>
            <a:r>
              <a:rPr lang="en-US" sz="1350" dirty="0">
                <a:solidFill>
                  <a:srgbClr val="333333"/>
                </a:solidFill>
                <a:latin typeface="Calibri" pitchFamily="34" charset="0"/>
                <a:ea typeface="Calibri" pitchFamily="34" charset="-122"/>
                <a:cs typeface="Calibri" pitchFamily="34" charset="-120"/>
              </a:rPr>
              <a:t>Không tự nghĩ ra — lấy theo CHUẨN Y KHOA QUỐC TẾ Task Force 1996 (hai hiệp hội tim mạch Âu–Mỹ cùng định nghĩa bộ chỉ số HRV): mỗi chỉ số có ý nghĩa sinh lý được công nhận, bác sĩ đọc hiểu được, và so sánh được với nghiên cứu khác.</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16 đặc trưng HRV — 3 cách đo 'độ loạn'</a:t>
            </a:r>
            <a:endParaRPr lang="en-US" sz="3000" dirty="0"/>
          </a:p>
        </p:txBody>
      </p:sp>
      <p:sp>
        <p:nvSpPr>
          <p:cNvPr id="3" name="Shape 1"/>
          <p:cNvSpPr/>
          <p:nvPr/>
        </p:nvSpPr>
        <p:spPr>
          <a:xfrm>
            <a:off x="640080" y="1344168"/>
            <a:ext cx="502920" cy="502920"/>
          </a:xfrm>
          <a:prstGeom prst="ellipse">
            <a:avLst/>
          </a:prstGeom>
          <a:solidFill>
            <a:srgbClr val="2F3C7E"/>
          </a:solidFill>
          <a:ln/>
        </p:spPr>
      </p:sp>
      <p:pic>
        <p:nvPicPr>
          <p:cNvPr id="4" name="Image 0" descr="preencoded.png">    </p:cNvPr>
          <p:cNvPicPr>
            <a:picLocks noChangeAspect="1"/>
          </p:cNvPicPr>
          <p:nvPr/>
        </p:nvPicPr>
        <p:blipFill>
          <a:blip r:embed="rId1"/>
          <a:stretch>
            <a:fillRect/>
          </a:stretch>
        </p:blipFill>
        <p:spPr>
          <a:xfrm>
            <a:off x="750722" y="1454810"/>
            <a:ext cx="281635" cy="281635"/>
          </a:xfrm>
          <a:prstGeom prst="rect">
            <a:avLst/>
          </a:prstGeom>
        </p:spPr>
      </p:pic>
      <p:sp>
        <p:nvSpPr>
          <p:cNvPr id="5" name="Text 2"/>
          <p:cNvSpPr txBox="1"/>
          <p:nvPr/>
        </p:nvSpPr>
        <p:spPr>
          <a:xfrm>
            <a:off x="1371600" y="1234440"/>
            <a:ext cx="10241280" cy="4114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Nhóm THỜI GIAN (7)   </a:t>
            </a:r>
            <a:pPr indent="0" marL="0">
              <a:buNone/>
            </a:pPr>
            <a:r>
              <a:rPr lang="en-US" sz="1300" i="1" dirty="0">
                <a:solidFill>
                  <a:srgbClr val="990011"/>
                </a:solidFill>
                <a:latin typeface="Calibri" pitchFamily="34" charset="0"/>
                <a:ea typeface="Calibri" pitchFamily="34" charset="-122"/>
                <a:cs typeface="Calibri" pitchFamily="34" charset="-120"/>
              </a:rPr>
              <a:t>RMSSD, pNN50, SDNN, CV...</a:t>
            </a:r>
            <a:endParaRPr lang="en-US" sz="1600" dirty="0"/>
          </a:p>
        </p:txBody>
      </p:sp>
      <p:sp>
        <p:nvSpPr>
          <p:cNvPr id="6" name="Text 3"/>
          <p:cNvSpPr txBox="1"/>
          <p:nvPr/>
        </p:nvSpPr>
        <p:spPr>
          <a:xfrm>
            <a:off x="1371600" y="1673352"/>
            <a:ext cx="10241280" cy="105156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Thước kẻ: đo trực tiếp độ nhấp nhô của chuỗi NN. pNN50 = % cặp nhịp liền kề lệch nhau &gt;50ms — người AF thường &gt;70%, người thường &lt;20%.</a:t>
            </a:r>
            <a:endParaRPr lang="en-US" sz="1300" dirty="0"/>
          </a:p>
        </p:txBody>
      </p:sp>
      <p:sp>
        <p:nvSpPr>
          <p:cNvPr id="7" name="Shape 4"/>
          <p:cNvSpPr/>
          <p:nvPr/>
        </p:nvSpPr>
        <p:spPr>
          <a:xfrm>
            <a:off x="640080" y="2971800"/>
            <a:ext cx="502920" cy="502920"/>
          </a:xfrm>
          <a:prstGeom prst="ellipse">
            <a:avLst/>
          </a:prstGeom>
          <a:solidFill>
            <a:srgbClr val="64748B"/>
          </a:solidFill>
          <a:ln/>
        </p:spPr>
      </p:sp>
      <p:pic>
        <p:nvPicPr>
          <p:cNvPr id="8" name="Image 1" descr="preencoded.png">    </p:cNvPr>
          <p:cNvPicPr>
            <a:picLocks noChangeAspect="1"/>
          </p:cNvPicPr>
          <p:nvPr/>
        </p:nvPicPr>
        <p:blipFill>
          <a:blip r:embed="rId2"/>
          <a:stretch>
            <a:fillRect/>
          </a:stretch>
        </p:blipFill>
        <p:spPr>
          <a:xfrm>
            <a:off x="750722" y="3082442"/>
            <a:ext cx="281635" cy="281635"/>
          </a:xfrm>
          <a:prstGeom prst="rect">
            <a:avLst/>
          </a:prstGeom>
        </p:spPr>
      </p:pic>
      <p:sp>
        <p:nvSpPr>
          <p:cNvPr id="9" name="Text 5"/>
          <p:cNvSpPr txBox="1"/>
          <p:nvPr/>
        </p:nvSpPr>
        <p:spPr>
          <a:xfrm>
            <a:off x="1371600" y="2862072"/>
            <a:ext cx="10241280" cy="4114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Nhóm TẦN SỐ (6)   </a:t>
            </a:r>
            <a:pPr indent="0" marL="0">
              <a:buNone/>
            </a:pPr>
            <a:r>
              <a:rPr lang="en-US" sz="1300" i="1" dirty="0">
                <a:solidFill>
                  <a:srgbClr val="990011"/>
                </a:solidFill>
                <a:latin typeface="Calibri" pitchFamily="34" charset="0"/>
                <a:ea typeface="Calibri" pitchFamily="34" charset="-122"/>
                <a:cs typeface="Calibri" pitchFamily="34" charset="-120"/>
              </a:rPr>
              <a:t>HF, Total Power... (LF bị LOẠI)</a:t>
            </a:r>
            <a:endParaRPr lang="en-US" sz="1600" dirty="0"/>
          </a:p>
        </p:txBody>
      </p:sp>
      <p:sp>
        <p:nvSpPr>
          <p:cNvPr id="10" name="Text 6"/>
          <p:cNvSpPr txBox="1"/>
          <p:nvPr/>
        </p:nvSpPr>
        <p:spPr>
          <a:xfrm>
            <a:off x="1371600" y="3300984"/>
            <a:ext cx="10241280" cy="105156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Máy phân tích nhạc: tách dao động theo nhịp thở, thần kinh. Nhóm LF cần bản ghi ≥2 phút mới tin được — cửa sổ 30s của ta quá ngắn → loại 3 đặc trưng LF, còn dùng 13.</a:t>
            </a:r>
            <a:endParaRPr lang="en-US" sz="1300" dirty="0"/>
          </a:p>
        </p:txBody>
      </p:sp>
      <p:sp>
        <p:nvSpPr>
          <p:cNvPr id="11" name="Shape 7"/>
          <p:cNvSpPr/>
          <p:nvPr/>
        </p:nvSpPr>
        <p:spPr>
          <a:xfrm>
            <a:off x="640080" y="4599432"/>
            <a:ext cx="502920" cy="502920"/>
          </a:xfrm>
          <a:prstGeom prst="ellipse">
            <a:avLst/>
          </a:prstGeom>
          <a:solidFill>
            <a:srgbClr val="2F3C7E"/>
          </a:solidFill>
          <a:ln/>
        </p:spPr>
      </p:sp>
      <p:pic>
        <p:nvPicPr>
          <p:cNvPr id="12" name="Image 2" descr="preencoded.png">    </p:cNvPr>
          <p:cNvPicPr>
            <a:picLocks noChangeAspect="1"/>
          </p:cNvPicPr>
          <p:nvPr/>
        </p:nvPicPr>
        <p:blipFill>
          <a:blip r:embed="rId3"/>
          <a:stretch>
            <a:fillRect/>
          </a:stretch>
        </p:blipFill>
        <p:spPr>
          <a:xfrm>
            <a:off x="750722" y="4710074"/>
            <a:ext cx="281635" cy="281635"/>
          </a:xfrm>
          <a:prstGeom prst="rect">
            <a:avLst/>
          </a:prstGeom>
        </p:spPr>
      </p:pic>
      <p:sp>
        <p:nvSpPr>
          <p:cNvPr id="13" name="Text 8"/>
          <p:cNvSpPr txBox="1"/>
          <p:nvPr/>
        </p:nvSpPr>
        <p:spPr>
          <a:xfrm>
            <a:off x="1371600" y="4489704"/>
            <a:ext cx="10241280" cy="4114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Nhóm PHI TUYẾN (3)   </a:t>
            </a:r>
            <a:pPr indent="0" marL="0">
              <a:buNone/>
            </a:pPr>
            <a:r>
              <a:rPr lang="en-US" sz="1300" i="1" dirty="0">
                <a:solidFill>
                  <a:srgbClr val="990011"/>
                </a:solidFill>
                <a:latin typeface="Calibri" pitchFamily="34" charset="0"/>
                <a:ea typeface="Calibri" pitchFamily="34" charset="-122"/>
                <a:cs typeface="Calibri" pitchFamily="34" charset="-120"/>
              </a:rPr>
              <a:t>SampEn, SD1, SD2 (Poincaré)</a:t>
            </a:r>
            <a:endParaRPr lang="en-US" sz="1600" dirty="0"/>
          </a:p>
        </p:txBody>
      </p:sp>
      <p:sp>
        <p:nvSpPr>
          <p:cNvPr id="14" name="Text 9"/>
          <p:cNvSpPr txBox="1"/>
          <p:nvPr/>
        </p:nvSpPr>
        <p:spPr>
          <a:xfrm>
            <a:off x="1371600" y="4928616"/>
            <a:ext cx="10241280" cy="105156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Máy đo độ khó đoán: SampEn cao = chuỗi nhịp hỗn loạn khó dự đoán — đặc trưng 'sát thủ' với AFib. SD1/SD2 là hình dáng đám mây Poincaré (slide sau).</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Poincaré — 'chụp X-quang' cho nhịp tim</a:t>
            </a:r>
            <a:endParaRPr lang="en-US" sz="3000" dirty="0"/>
          </a:p>
        </p:txBody>
      </p:sp>
      <p:pic>
        <p:nvPicPr>
          <p:cNvPr id="3" name="Image 0" descr="C:/Users/Admin/AppData/Local/Temp/claude/D--Projects-HealthSense/f9ec15a3-f454-4ee6-860d-29e10e4b7747/scratchpad/slides_figs/poincare_compare.png">    </p:cNvPr>
          <p:cNvPicPr>
            <a:picLocks noChangeAspect="1"/>
          </p:cNvPicPr>
          <p:nvPr/>
        </p:nvPicPr>
        <p:blipFill>
          <a:blip r:embed="rId1"/>
          <a:srcRect l="0" r="0" t="0" b="0"/>
          <a:stretch/>
        </p:blipFill>
        <p:spPr>
          <a:xfrm>
            <a:off x="1280160" y="1143000"/>
            <a:ext cx="9628632" cy="4297680"/>
          </a:xfrm>
          <a:prstGeom prst="rect">
            <a:avLst/>
          </a:prstGeom>
        </p:spPr>
      </p:pic>
      <p:sp>
        <p:nvSpPr>
          <p:cNvPr id="4" name="Text 1"/>
          <p:cNvSpPr txBox="1"/>
          <p:nvPr/>
        </p:nvSpPr>
        <p:spPr>
          <a:xfrm>
            <a:off x="731520" y="5577840"/>
            <a:ext cx="10725912" cy="7772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Mỗi chấm = một cặp nhịp liên tiếp (nhịp n, nhịp n+1). Nhịp đều → chấm nào cũng gần chấm nào → chụm. Nhịp loạn → cặp nào cũng khác cặp nào → tản. SD1/SD2 chính là bề ngang/bề dài của đám chấm này.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2B5C"/>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Bài học đắt nhất: Data Leakage</a:t>
            </a:r>
            <a:endParaRPr lang="en-US" sz="3000" dirty="0"/>
          </a:p>
        </p:txBody>
      </p:sp>
      <p:sp>
        <p:nvSpPr>
          <p:cNvPr id="3" name="Text 1"/>
          <p:cNvSpPr txBox="1"/>
          <p:nvPr/>
        </p:nvSpPr>
        <p:spPr>
          <a:xfrm>
            <a:off x="502920" y="914400"/>
            <a:ext cx="8229600" cy="457200"/>
          </a:xfrm>
          <a:prstGeom prst="rect">
            <a:avLst/>
          </a:prstGeom>
          <a:noFill/>
          <a:ln/>
        </p:spPr>
        <p:txBody>
          <a:bodyPr wrap="square" lIns="0" tIns="0" rIns="0" bIns="0" rtlCol="0" anchor="ctr"/>
          <a:lstStyle/>
          <a:p>
            <a:pPr indent="0" marL="0">
              <a:buNone/>
            </a:pPr>
            <a:r>
              <a:rPr lang="en-US" sz="1700" i="1" dirty="0">
                <a:solidFill>
                  <a:srgbClr val="F0A9AE"/>
                </a:solidFill>
                <a:latin typeface="Calibri" pitchFamily="34" charset="0"/>
                <a:ea typeface="Calibri" pitchFamily="34" charset="-122"/>
                <a:cs typeface="Calibri" pitchFamily="34" charset="-120"/>
              </a:rPr>
              <a:t>phiên bản đầu đạt 98–99% — và tất cả là ẢO</a:t>
            </a:r>
            <a:endParaRPr lang="en-US" sz="1700" dirty="0"/>
          </a:p>
        </p:txBody>
      </p:sp>
      <p:sp>
        <p:nvSpPr>
          <p:cNvPr id="4" name="Shape 2"/>
          <p:cNvSpPr/>
          <p:nvPr/>
        </p:nvSpPr>
        <p:spPr>
          <a:xfrm>
            <a:off x="640080" y="1600200"/>
            <a:ext cx="10908792" cy="1645920"/>
          </a:xfrm>
          <a:prstGeom prst="roundRect">
            <a:avLst>
              <a:gd name="adj" fmla="val 6667"/>
            </a:avLst>
          </a:prstGeom>
          <a:solidFill>
            <a:srgbClr val="2E3868"/>
          </a:solidFill>
          <a:ln w="12700">
            <a:solidFill>
              <a:srgbClr val="990011"/>
            </a:solidFill>
            <a:prstDash val="solid"/>
          </a:ln>
        </p:spPr>
      </p:sp>
      <p:sp>
        <p:nvSpPr>
          <p:cNvPr id="5" name="Shape 3"/>
          <p:cNvSpPr/>
          <p:nvPr/>
        </p:nvSpPr>
        <p:spPr>
          <a:xfrm>
            <a:off x="914400" y="2148840"/>
            <a:ext cx="502920" cy="502920"/>
          </a:xfrm>
          <a:prstGeom prst="ellipse">
            <a:avLst/>
          </a:prstGeom>
          <a:solidFill>
            <a:srgbClr val="990011"/>
          </a:solidFill>
          <a:ln/>
        </p:spPr>
      </p:sp>
      <p:pic>
        <p:nvPicPr>
          <p:cNvPr id="6" name="Image 0" descr="preencoded.png">    </p:cNvPr>
          <p:cNvPicPr>
            <a:picLocks noChangeAspect="1"/>
          </p:cNvPicPr>
          <p:nvPr/>
        </p:nvPicPr>
        <p:blipFill>
          <a:blip r:embed="rId1"/>
          <a:stretch>
            <a:fillRect/>
          </a:stretch>
        </p:blipFill>
        <p:spPr>
          <a:xfrm>
            <a:off x="1025042" y="2259482"/>
            <a:ext cx="281635" cy="281635"/>
          </a:xfrm>
          <a:prstGeom prst="rect">
            <a:avLst/>
          </a:prstGeom>
        </p:spPr>
      </p:pic>
      <p:sp>
        <p:nvSpPr>
          <p:cNvPr id="7" name="Text 4"/>
          <p:cNvSpPr txBox="1"/>
          <p:nvPr/>
        </p:nvSpPr>
        <p:spPr>
          <a:xfrm>
            <a:off x="1645920" y="1764792"/>
            <a:ext cx="987552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Lỗi 1 — Subject leakage</a:t>
            </a:r>
            <a:endParaRPr lang="en-US" sz="1600" dirty="0"/>
          </a:p>
        </p:txBody>
      </p:sp>
      <p:sp>
        <p:nvSpPr>
          <p:cNvPr id="8" name="Text 5"/>
          <p:cNvSpPr txBox="1"/>
          <p:nvPr/>
        </p:nvSpPr>
        <p:spPr>
          <a:xfrm>
            <a:off x="1645920" y="2194560"/>
            <a:ext cx="9875520" cy="960120"/>
          </a:xfrm>
          <a:prstGeom prst="rect">
            <a:avLst/>
          </a:prstGeom>
          <a:noFill/>
          <a:ln/>
        </p:spPr>
        <p:txBody>
          <a:bodyPr wrap="square" lIns="0" tIns="0" rIns="0" bIns="0" rtlCol="0" anchor="ctr"/>
          <a:lstStyle/>
          <a:p>
            <a:pPr indent="0" marL="0">
              <a:buNone/>
            </a:pPr>
            <a:r>
              <a:rPr lang="en-US" sz="1350" dirty="0">
                <a:solidFill>
                  <a:srgbClr val="C9CFEF"/>
                </a:solidFill>
                <a:latin typeface="Calibri" pitchFamily="34" charset="0"/>
                <a:ea typeface="Calibri" pitchFamily="34" charset="-122"/>
                <a:cs typeface="Calibri" pitchFamily="34" charset="-120"/>
              </a:rPr>
              <a:t>Cắt mỗi bệnh nhân thành ~118 cửa sổ rồi chia train/test NGẪU NHIÊN → cửa sổ của cùng một người nằm cả hai bên. Mô hình chỉ cần 'nhận mặt bệnh nhân' là điểm cao — như học sinh được XEM TRƯỚC ĐỀ THI.</a:t>
            </a:r>
            <a:endParaRPr lang="en-US" sz="1350" dirty="0"/>
          </a:p>
        </p:txBody>
      </p:sp>
      <p:sp>
        <p:nvSpPr>
          <p:cNvPr id="9" name="Shape 6"/>
          <p:cNvSpPr/>
          <p:nvPr/>
        </p:nvSpPr>
        <p:spPr>
          <a:xfrm>
            <a:off x="640080" y="3429000"/>
            <a:ext cx="10908792" cy="1645920"/>
          </a:xfrm>
          <a:prstGeom prst="roundRect">
            <a:avLst>
              <a:gd name="adj" fmla="val 6667"/>
            </a:avLst>
          </a:prstGeom>
          <a:solidFill>
            <a:srgbClr val="2E3868"/>
          </a:solidFill>
          <a:ln w="12700">
            <a:solidFill>
              <a:srgbClr val="990011"/>
            </a:solidFill>
            <a:prstDash val="solid"/>
          </a:ln>
        </p:spPr>
      </p:sp>
      <p:sp>
        <p:nvSpPr>
          <p:cNvPr id="10" name="Shape 7"/>
          <p:cNvSpPr/>
          <p:nvPr/>
        </p:nvSpPr>
        <p:spPr>
          <a:xfrm>
            <a:off x="914400" y="3977640"/>
            <a:ext cx="502920" cy="502920"/>
          </a:xfrm>
          <a:prstGeom prst="ellipse">
            <a:avLst/>
          </a:prstGeom>
          <a:solidFill>
            <a:srgbClr val="990011"/>
          </a:solidFill>
          <a:ln/>
        </p:spPr>
      </p:sp>
      <p:pic>
        <p:nvPicPr>
          <p:cNvPr id="11" name="Image 1" descr="preencoded.png">    </p:cNvPr>
          <p:cNvPicPr>
            <a:picLocks noChangeAspect="1"/>
          </p:cNvPicPr>
          <p:nvPr/>
        </p:nvPicPr>
        <p:blipFill>
          <a:blip r:embed="rId2"/>
          <a:stretch>
            <a:fillRect/>
          </a:stretch>
        </p:blipFill>
        <p:spPr>
          <a:xfrm>
            <a:off x="1025042" y="4088282"/>
            <a:ext cx="281635" cy="281635"/>
          </a:xfrm>
          <a:prstGeom prst="rect">
            <a:avLst/>
          </a:prstGeom>
        </p:spPr>
      </p:pic>
      <p:sp>
        <p:nvSpPr>
          <p:cNvPr id="12" name="Text 8"/>
          <p:cNvSpPr txBox="1"/>
          <p:nvPr/>
        </p:nvSpPr>
        <p:spPr>
          <a:xfrm>
            <a:off x="1645920" y="3593592"/>
            <a:ext cx="987552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Lỗi 2 — Preprocessing leakage</a:t>
            </a:r>
            <a:endParaRPr lang="en-US" sz="1600" dirty="0"/>
          </a:p>
        </p:txBody>
      </p:sp>
      <p:sp>
        <p:nvSpPr>
          <p:cNvPr id="13" name="Text 9"/>
          <p:cNvSpPr txBox="1"/>
          <p:nvPr/>
        </p:nvSpPr>
        <p:spPr>
          <a:xfrm>
            <a:off x="1645920" y="4023360"/>
            <a:ext cx="9875520" cy="960120"/>
          </a:xfrm>
          <a:prstGeom prst="rect">
            <a:avLst/>
          </a:prstGeom>
          <a:noFill/>
          <a:ln/>
        </p:spPr>
        <p:txBody>
          <a:bodyPr wrap="square" lIns="0" tIns="0" rIns="0" bIns="0" rtlCol="0" anchor="ctr"/>
          <a:lstStyle/>
          <a:p>
            <a:pPr indent="0" marL="0">
              <a:buNone/>
            </a:pPr>
            <a:r>
              <a:rPr lang="en-US" sz="1350" dirty="0">
                <a:solidFill>
                  <a:srgbClr val="C9CFEF"/>
                </a:solidFill>
                <a:latin typeface="Calibri" pitchFamily="34" charset="0"/>
                <a:ea typeface="Calibri" pitchFamily="34" charset="-122"/>
                <a:cs typeface="Calibri" pitchFamily="34" charset="-120"/>
              </a:rPr>
              <a:t>Scaler và ngưỡng lọc outlier được 'học' trên TOÀN BỘ dữ liệu (gồm cả test) trước khi chia — thống kê của đề thi đã lọt vào bài giảng.</a:t>
            </a:r>
            <a:endParaRPr lang="en-US" sz="1350" dirty="0"/>
          </a:p>
        </p:txBody>
      </p:sp>
      <p:sp>
        <p:nvSpPr>
          <p:cNvPr id="14" name="Text 10"/>
          <p:cNvSpPr txBox="1"/>
          <p:nvPr/>
        </p:nvSpPr>
        <p:spPr>
          <a:xfrm>
            <a:off x="640080" y="5486400"/>
            <a:ext cx="10908792" cy="548640"/>
          </a:xfrm>
          <a:prstGeom prst="rect">
            <a:avLst/>
          </a:prstGeom>
          <a:noFill/>
          <a:ln/>
        </p:spPr>
        <p:txBody>
          <a:bodyPr wrap="square" lIns="0" tIns="0" rIns="0" bIns="0" rtlCol="0" anchor="ctr"/>
          <a:lstStyle/>
          <a:p>
            <a:pPr algn="ctr" indent="0" marL="0">
              <a:buNone/>
            </a:pPr>
            <a:r>
              <a:rPr lang="en-US" sz="1500" b="1" dirty="0">
                <a:solidFill>
                  <a:srgbClr val="FFD166"/>
                </a:solidFill>
                <a:latin typeface="Calibri" pitchFamily="34" charset="0"/>
                <a:ea typeface="Calibri" pitchFamily="34" charset="-122"/>
                <a:cs typeface="Calibri" pitchFamily="34" charset="-120"/>
              </a:rPr>
              <a:t>Kiểm tra nhanh mọi dự án y sinh: dữ liệu có cột 'mã bệnh nhân' không, và có chia theo nó không?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Thuốc giải: LOSO — giấu trọn một người làm đề thi</a:t>
            </a:r>
            <a:endParaRPr lang="en-US" sz="3000" dirty="0"/>
          </a:p>
        </p:txBody>
      </p:sp>
      <p:sp>
        <p:nvSpPr>
          <p:cNvPr id="3" name="Text 1"/>
          <p:cNvSpPr txBox="1"/>
          <p:nvPr/>
        </p:nvSpPr>
        <p:spPr>
          <a:xfrm>
            <a:off x="640080" y="1280160"/>
            <a:ext cx="6675120" cy="4114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Leave-One-Subject-Out: có 35 bệnh nhân → thi 35 vòng, mỗi vòng GIẤU TRỌN 1 người làm đề, học trên 34 người còn lại</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Điểm số trả lời đúng câu hỏi thực tế: 'gặp NGƯỜI MỚI, mô hình có nhận ra AFib không?'</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Chống lỗi 2: Scaler + lọc outlier chỉ được 'học' từ 34 người train của từng vòng</a:t>
            </a:r>
            <a:endParaRPr lang="en-US" sz="1500" dirty="0"/>
          </a:p>
          <a:p>
            <a:pPr marL="342900" indent="-342900">
              <a:spcAft>
                <a:spcPts val="800"/>
              </a:spcAft>
              <a:buSzPct val="100000"/>
              <a:buChar char="•"/>
            </a:pPr>
            <a:r>
              <a:rPr lang="en-US" sz="1500" dirty="0">
                <a:solidFill>
                  <a:srgbClr val="333333"/>
                </a:solidFill>
                <a:latin typeface="Calibri" pitchFamily="34" charset="0"/>
                <a:ea typeface="Calibri" pitchFamily="34" charset="-122"/>
                <a:cs typeface="Calibri" pitchFamily="34" charset="-120"/>
              </a:rPr>
              <a:t>Chọn hyperparameter cũng chỉ trên train (nested GroupKFold) — đề thi không được đụng vào, kể cả gián tiếp</a:t>
            </a:r>
            <a:endParaRPr lang="en-US" sz="1500" dirty="0"/>
          </a:p>
        </p:txBody>
      </p:sp>
      <p:sp>
        <p:nvSpPr>
          <p:cNvPr id="4" name="Text 2"/>
          <p:cNvSpPr txBox="1"/>
          <p:nvPr/>
        </p:nvSpPr>
        <p:spPr>
          <a:xfrm>
            <a:off x="7635240" y="1463040"/>
            <a:ext cx="3657600" cy="36576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Vòng thi thứ k:</a:t>
            </a:r>
            <a:endParaRPr lang="en-US" sz="1400" dirty="0"/>
          </a:p>
        </p:txBody>
      </p:sp>
      <p:sp>
        <p:nvSpPr>
          <p:cNvPr id="5" name="Shape 3"/>
          <p:cNvSpPr/>
          <p:nvPr/>
        </p:nvSpPr>
        <p:spPr>
          <a:xfrm>
            <a:off x="7635240" y="1920240"/>
            <a:ext cx="841248" cy="841248"/>
          </a:xfrm>
          <a:prstGeom prst="roundRect">
            <a:avLst>
              <a:gd name="adj" fmla="val 8696"/>
            </a:avLst>
          </a:prstGeom>
          <a:solidFill>
            <a:srgbClr val="2F3C7E"/>
          </a:solidFill>
          <a:ln/>
        </p:spPr>
      </p:sp>
      <p:sp>
        <p:nvSpPr>
          <p:cNvPr id="6" name="Text 4"/>
          <p:cNvSpPr txBox="1"/>
          <p:nvPr/>
        </p:nvSpPr>
        <p:spPr>
          <a:xfrm>
            <a:off x="7635240" y="1920240"/>
            <a:ext cx="841248" cy="8412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BN1</a:t>
            </a:r>
            <a:endParaRPr lang="en-US" sz="1100" dirty="0"/>
          </a:p>
        </p:txBody>
      </p:sp>
      <p:sp>
        <p:nvSpPr>
          <p:cNvPr id="7" name="Shape 5"/>
          <p:cNvSpPr/>
          <p:nvPr/>
        </p:nvSpPr>
        <p:spPr>
          <a:xfrm>
            <a:off x="8604504" y="1920240"/>
            <a:ext cx="841248" cy="841248"/>
          </a:xfrm>
          <a:prstGeom prst="roundRect">
            <a:avLst>
              <a:gd name="adj" fmla="val 8696"/>
            </a:avLst>
          </a:prstGeom>
          <a:solidFill>
            <a:srgbClr val="2F3C7E"/>
          </a:solidFill>
          <a:ln/>
        </p:spPr>
      </p:sp>
      <p:sp>
        <p:nvSpPr>
          <p:cNvPr id="8" name="Text 6"/>
          <p:cNvSpPr txBox="1"/>
          <p:nvPr/>
        </p:nvSpPr>
        <p:spPr>
          <a:xfrm>
            <a:off x="8604504" y="1920240"/>
            <a:ext cx="841248" cy="8412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BN2</a:t>
            </a:r>
            <a:endParaRPr lang="en-US" sz="1100" dirty="0"/>
          </a:p>
        </p:txBody>
      </p:sp>
      <p:sp>
        <p:nvSpPr>
          <p:cNvPr id="9" name="Shape 7"/>
          <p:cNvSpPr/>
          <p:nvPr/>
        </p:nvSpPr>
        <p:spPr>
          <a:xfrm>
            <a:off x="9573768" y="1920240"/>
            <a:ext cx="841248" cy="841248"/>
          </a:xfrm>
          <a:prstGeom prst="roundRect">
            <a:avLst>
              <a:gd name="adj" fmla="val 8696"/>
            </a:avLst>
          </a:prstGeom>
          <a:solidFill>
            <a:srgbClr val="2F3C7E"/>
          </a:solidFill>
          <a:ln/>
        </p:spPr>
      </p:sp>
      <p:sp>
        <p:nvSpPr>
          <p:cNvPr id="10" name="Text 8"/>
          <p:cNvSpPr txBox="1"/>
          <p:nvPr/>
        </p:nvSpPr>
        <p:spPr>
          <a:xfrm>
            <a:off x="9573768" y="1920240"/>
            <a:ext cx="841248" cy="8412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BN3</a:t>
            </a:r>
            <a:endParaRPr lang="en-US" sz="1100" dirty="0"/>
          </a:p>
        </p:txBody>
      </p:sp>
      <p:sp>
        <p:nvSpPr>
          <p:cNvPr id="11" name="Shape 9"/>
          <p:cNvSpPr/>
          <p:nvPr/>
        </p:nvSpPr>
        <p:spPr>
          <a:xfrm>
            <a:off x="10543032" y="1920240"/>
            <a:ext cx="841248" cy="841248"/>
          </a:xfrm>
          <a:prstGeom prst="roundRect">
            <a:avLst>
              <a:gd name="adj" fmla="val 8696"/>
            </a:avLst>
          </a:prstGeom>
          <a:solidFill>
            <a:srgbClr val="2F3C7E"/>
          </a:solidFill>
          <a:ln/>
        </p:spPr>
      </p:sp>
      <p:sp>
        <p:nvSpPr>
          <p:cNvPr id="12" name="Text 10"/>
          <p:cNvSpPr txBox="1"/>
          <p:nvPr/>
        </p:nvSpPr>
        <p:spPr>
          <a:xfrm>
            <a:off x="10543032" y="1920240"/>
            <a:ext cx="841248" cy="8412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BN4</a:t>
            </a:r>
            <a:endParaRPr lang="en-US" sz="1100" dirty="0"/>
          </a:p>
        </p:txBody>
      </p:sp>
      <p:sp>
        <p:nvSpPr>
          <p:cNvPr id="13" name="Shape 11"/>
          <p:cNvSpPr/>
          <p:nvPr/>
        </p:nvSpPr>
        <p:spPr>
          <a:xfrm>
            <a:off x="7635240" y="2889504"/>
            <a:ext cx="841248" cy="841248"/>
          </a:xfrm>
          <a:prstGeom prst="roundRect">
            <a:avLst>
              <a:gd name="adj" fmla="val 8696"/>
            </a:avLst>
          </a:prstGeom>
          <a:solidFill>
            <a:srgbClr val="990011"/>
          </a:solidFill>
          <a:ln/>
        </p:spPr>
      </p:sp>
      <p:sp>
        <p:nvSpPr>
          <p:cNvPr id="14" name="Text 12"/>
          <p:cNvSpPr txBox="1"/>
          <p:nvPr/>
        </p:nvSpPr>
        <p:spPr>
          <a:xfrm>
            <a:off x="7635240" y="2889504"/>
            <a:ext cx="841248" cy="8412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THI</a:t>
            </a:r>
            <a:endParaRPr lang="en-US" sz="1100" dirty="0"/>
          </a:p>
        </p:txBody>
      </p:sp>
      <p:sp>
        <p:nvSpPr>
          <p:cNvPr id="15" name="Shape 13"/>
          <p:cNvSpPr/>
          <p:nvPr/>
        </p:nvSpPr>
        <p:spPr>
          <a:xfrm>
            <a:off x="8604504" y="2889504"/>
            <a:ext cx="841248" cy="841248"/>
          </a:xfrm>
          <a:prstGeom prst="roundRect">
            <a:avLst>
              <a:gd name="adj" fmla="val 8696"/>
            </a:avLst>
          </a:prstGeom>
          <a:solidFill>
            <a:srgbClr val="2F3C7E"/>
          </a:solidFill>
          <a:ln/>
        </p:spPr>
      </p:sp>
      <p:sp>
        <p:nvSpPr>
          <p:cNvPr id="16" name="Text 14"/>
          <p:cNvSpPr txBox="1"/>
          <p:nvPr/>
        </p:nvSpPr>
        <p:spPr>
          <a:xfrm>
            <a:off x="8604504" y="2889504"/>
            <a:ext cx="841248" cy="8412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BN6</a:t>
            </a:r>
            <a:endParaRPr lang="en-US" sz="1100" dirty="0"/>
          </a:p>
        </p:txBody>
      </p:sp>
      <p:sp>
        <p:nvSpPr>
          <p:cNvPr id="17" name="Shape 15"/>
          <p:cNvSpPr/>
          <p:nvPr/>
        </p:nvSpPr>
        <p:spPr>
          <a:xfrm>
            <a:off x="9573768" y="2889504"/>
            <a:ext cx="841248" cy="841248"/>
          </a:xfrm>
          <a:prstGeom prst="roundRect">
            <a:avLst>
              <a:gd name="adj" fmla="val 8696"/>
            </a:avLst>
          </a:prstGeom>
          <a:solidFill>
            <a:srgbClr val="2F3C7E"/>
          </a:solidFill>
          <a:ln/>
        </p:spPr>
      </p:sp>
      <p:sp>
        <p:nvSpPr>
          <p:cNvPr id="18" name="Text 16"/>
          <p:cNvSpPr txBox="1"/>
          <p:nvPr/>
        </p:nvSpPr>
        <p:spPr>
          <a:xfrm>
            <a:off x="9573768" y="2889504"/>
            <a:ext cx="841248" cy="8412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BN7</a:t>
            </a:r>
            <a:endParaRPr lang="en-US" sz="1100" dirty="0"/>
          </a:p>
        </p:txBody>
      </p:sp>
      <p:sp>
        <p:nvSpPr>
          <p:cNvPr id="19" name="Text 17"/>
          <p:cNvSpPr txBox="1"/>
          <p:nvPr/>
        </p:nvSpPr>
        <p:spPr>
          <a:xfrm>
            <a:off x="7635240" y="3977640"/>
            <a:ext cx="4023360" cy="73152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 lặp 35 lần, mỗi người</a:t>
            </a:r>
            <a:endParaRPr lang="en-US" sz="1250" dirty="0"/>
          </a:p>
          <a:p>
            <a:pPr indent="0" marL="0">
              <a:buNone/>
            </a:pPr>
            <a:r>
              <a:rPr lang="en-US" sz="1250" i="1" dirty="0">
                <a:solidFill>
                  <a:srgbClr val="64748B"/>
                </a:solidFill>
                <a:latin typeface="Calibri" pitchFamily="34" charset="0"/>
                <a:ea typeface="Calibri" pitchFamily="34" charset="-122"/>
                <a:cs typeface="Calibri" pitchFamily="34" charset="-120"/>
              </a:rPr>
              <a:t>được làm 'đề thi' đúng 1 lần</a:t>
            </a:r>
            <a:endParaRPr lang="en-US" sz="1250" dirty="0"/>
          </a:p>
        </p:txBody>
      </p:sp>
      <p:sp>
        <p:nvSpPr>
          <p:cNvPr id="20" name="Shape 18"/>
          <p:cNvSpPr/>
          <p:nvPr/>
        </p:nvSpPr>
        <p:spPr>
          <a:xfrm>
            <a:off x="640080" y="5394960"/>
            <a:ext cx="10908792" cy="914400"/>
          </a:xfrm>
          <a:prstGeom prst="roundRect">
            <a:avLst>
              <a:gd name="adj" fmla="val 12000"/>
            </a:avLst>
          </a:prstGeom>
          <a:solidFill>
            <a:srgbClr val="FCF6F5"/>
          </a:solidFill>
          <a:ln w="15875">
            <a:solidFill>
              <a:srgbClr val="1B7A43"/>
            </a:solidFill>
            <a:prstDash val="solid"/>
          </a:ln>
        </p:spPr>
      </p:sp>
      <p:sp>
        <p:nvSpPr>
          <p:cNvPr id="21" name="Text 19"/>
          <p:cNvSpPr txBox="1"/>
          <p:nvPr/>
        </p:nvSpPr>
        <p:spPr>
          <a:xfrm>
            <a:off x="914400" y="5486400"/>
            <a:ext cx="10360152" cy="731520"/>
          </a:xfrm>
          <a:prstGeom prst="rect">
            <a:avLst/>
          </a:prstGeom>
          <a:noFill/>
          <a:ln/>
        </p:spPr>
        <p:txBody>
          <a:bodyPr wrap="square" lIns="0" tIns="0" rIns="0" bIns="0" rtlCol="0" anchor="ctr"/>
          <a:lstStyle/>
          <a:p>
            <a:pPr indent="0" marL="0">
              <a:buNone/>
            </a:pPr>
            <a:r>
              <a:rPr lang="en-US" sz="1400" b="1" dirty="0">
                <a:solidFill>
                  <a:srgbClr val="1B7A43"/>
                </a:solidFill>
                <a:latin typeface="Calibri" pitchFamily="34" charset="0"/>
                <a:ea typeface="Calibri" pitchFamily="34" charset="-122"/>
                <a:cs typeface="Calibri" pitchFamily="34" charset="-120"/>
              </a:rPr>
              <a:t>Đánh đổi trung thực: </a:t>
            </a:r>
            <a:pPr indent="0" marL="0">
              <a:buNone/>
            </a:pPr>
            <a:r>
              <a:rPr lang="en-US" sz="1400" dirty="0">
                <a:solidFill>
                  <a:srgbClr val="333333"/>
                </a:solidFill>
                <a:latin typeface="Calibri" pitchFamily="34" charset="0"/>
                <a:ea typeface="Calibri" pitchFamily="34" charset="-122"/>
                <a:cs typeface="Calibri" pitchFamily="34" charset="-120"/>
              </a:rPr>
              <a:t>điểm 'tụt' từ 99% ảo xuống 94% thật — nhưng 94% này bảo vệ được trước hội đồng, còn 99% kia thì không.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Tầng kiểm định 1 — LOSO trên MIMIC</a:t>
            </a:r>
            <a:endParaRPr lang="en-US" sz="3000" dirty="0"/>
          </a:p>
        </p:txBody>
      </p:sp>
      <p:pic>
        <p:nvPicPr>
          <p:cNvPr id="3" name="Image 0" descr="D:/Projects/HealthSense/HealthSense-MachineLearning-Lab/models/benchmark_v4/confusion_matrices_subject.png">    </p:cNvPr>
          <p:cNvPicPr>
            <a:picLocks noChangeAspect="1"/>
          </p:cNvPicPr>
          <p:nvPr/>
        </p:nvPicPr>
        <p:blipFill>
          <a:blip r:embed="rId1"/>
          <a:srcRect l="0" r="0" t="0" b="0"/>
          <a:stretch/>
        </p:blipFill>
        <p:spPr>
          <a:xfrm>
            <a:off x="502920" y="1234440"/>
            <a:ext cx="7589520" cy="4114800"/>
          </a:xfrm>
          <a:prstGeom prst="rect">
            <a:avLst/>
          </a:prstGeom>
        </p:spPr>
      </p:pic>
      <p:sp>
        <p:nvSpPr>
          <p:cNvPr id="4" name="Text 1"/>
          <p:cNvSpPr txBox="1"/>
          <p:nvPr/>
        </p:nvSpPr>
        <p:spPr>
          <a:xfrm>
            <a:off x="8321040" y="1554480"/>
            <a:ext cx="3383280" cy="822960"/>
          </a:xfrm>
          <a:prstGeom prst="rect">
            <a:avLst/>
          </a:prstGeom>
          <a:noFill/>
          <a:ln/>
        </p:spPr>
        <p:txBody>
          <a:bodyPr wrap="square" lIns="0" tIns="0" rIns="0" bIns="0" rtlCol="0" anchor="ctr"/>
          <a:lstStyle/>
          <a:p>
            <a:pPr algn="ctr" indent="0" marL="0">
              <a:buNone/>
            </a:pPr>
            <a:r>
              <a:rPr lang="en-US" sz="4400" b="1" dirty="0">
                <a:solidFill>
                  <a:srgbClr val="1B7A43"/>
                </a:solidFill>
                <a:latin typeface="Arial" pitchFamily="34" charset="0"/>
                <a:ea typeface="Arial" pitchFamily="34" charset="-122"/>
                <a:cs typeface="Arial" pitchFamily="34" charset="-120"/>
              </a:rPr>
              <a:t>100%</a:t>
            </a:r>
            <a:endParaRPr lang="en-US" sz="4400" dirty="0"/>
          </a:p>
        </p:txBody>
      </p:sp>
      <p:sp>
        <p:nvSpPr>
          <p:cNvPr id="5" name="Text 2"/>
          <p:cNvSpPr txBox="1"/>
          <p:nvPr/>
        </p:nvSpPr>
        <p:spPr>
          <a:xfrm>
            <a:off x="8321040" y="2395728"/>
            <a:ext cx="338328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Recall — bắt đủ CẢ 19 bệnh nhân AFib, không sót ai</a:t>
            </a:r>
            <a:endParaRPr lang="en-US" sz="1300" dirty="0"/>
          </a:p>
        </p:txBody>
      </p:sp>
      <p:sp>
        <p:nvSpPr>
          <p:cNvPr id="6" name="Text 3"/>
          <p:cNvSpPr txBox="1"/>
          <p:nvPr/>
        </p:nvSpPr>
        <p:spPr>
          <a:xfrm>
            <a:off x="8321040" y="3200400"/>
            <a:ext cx="3383280" cy="822960"/>
          </a:xfrm>
          <a:prstGeom prst="rect">
            <a:avLst/>
          </a:prstGeom>
          <a:noFill/>
          <a:ln/>
        </p:spPr>
        <p:txBody>
          <a:bodyPr wrap="square" lIns="0" tIns="0" rIns="0" bIns="0" rtlCol="0" anchor="ctr"/>
          <a:lstStyle/>
          <a:p>
            <a:pPr algn="ctr" indent="0" marL="0">
              <a:buNone/>
            </a:pPr>
            <a:r>
              <a:rPr lang="en-US" sz="4400" b="1" dirty="0">
                <a:solidFill>
                  <a:srgbClr val="2F3C7E"/>
                </a:solidFill>
                <a:latin typeface="Arial" pitchFamily="34" charset="0"/>
                <a:ea typeface="Arial" pitchFamily="34" charset="-122"/>
                <a:cs typeface="Arial" pitchFamily="34" charset="-120"/>
              </a:rPr>
              <a:t>94.3%</a:t>
            </a:r>
            <a:endParaRPr lang="en-US" sz="4400" dirty="0"/>
          </a:p>
        </p:txBody>
      </p:sp>
      <p:sp>
        <p:nvSpPr>
          <p:cNvPr id="7" name="Text 4"/>
          <p:cNvSpPr txBox="1"/>
          <p:nvPr/>
        </p:nvSpPr>
        <p:spPr>
          <a:xfrm>
            <a:off x="8321040" y="4041648"/>
            <a:ext cx="338328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Accuracy mức bệnh nhân (33/35 người đúng)</a:t>
            </a:r>
            <a:endParaRPr lang="en-US" sz="1300" dirty="0"/>
          </a:p>
        </p:txBody>
      </p:sp>
      <p:sp>
        <p:nvSpPr>
          <p:cNvPr id="8" name="Text 5"/>
          <p:cNvSpPr txBox="1"/>
          <p:nvPr/>
        </p:nvSpPr>
        <p:spPr>
          <a:xfrm>
            <a:off x="640080" y="5577840"/>
            <a:ext cx="10908792" cy="731520"/>
          </a:xfrm>
          <a:prstGeom prst="rect">
            <a:avLst/>
          </a:prstGeom>
          <a:noFill/>
          <a:ln/>
        </p:spPr>
        <p:txBody>
          <a:bodyPr wrap="square" lIns="0" tIns="0" rIns="0" bIns="0" rtlCol="0" anchor="ctr"/>
          <a:lstStyle/>
          <a:p>
            <a:pPr indent="0" marL="0">
              <a:buNone/>
            </a:pPr>
            <a:r>
              <a:rPr lang="en-US" sz="1350" dirty="0">
                <a:solidFill>
                  <a:srgbClr val="333333"/>
                </a:solidFill>
                <a:latin typeface="Calibri" pitchFamily="34" charset="0"/>
                <a:ea typeface="Calibri" pitchFamily="34" charset="-122"/>
                <a:cs typeface="Calibri" pitchFamily="34" charset="-120"/>
              </a:rPr>
              <a:t>Metric báo cáo ở MỨC BỆNH NHÂN: gộp ~118 cửa sổ của mỗi người thành 1 kết luận/người — vì câu hỏi thật là 'người này có bệnh không?', không phải 'đoạn 30 giây này thế nào?'</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Giải mã 2 ca 'báo nhầm' — twist hay nhất dự án</a:t>
            </a:r>
            <a:endParaRPr lang="en-US" sz="3000" dirty="0"/>
          </a:p>
        </p:txBody>
      </p:sp>
      <p:pic>
        <p:nvPicPr>
          <p:cNvPr id="3" name="Image 0" descr="D:/Projects/HealthSense/HealthSense-MachineLearning-Lab/models/benchmark_v4/subject_probabilities.png">    </p:cNvPr>
          <p:cNvPicPr>
            <a:picLocks noChangeAspect="1"/>
          </p:cNvPicPr>
          <p:nvPr/>
        </p:nvPicPr>
        <p:blipFill>
          <a:blip r:embed="rId1"/>
          <a:srcRect l="0" r="0" t="0" b="0"/>
          <a:stretch/>
        </p:blipFill>
        <p:spPr>
          <a:xfrm>
            <a:off x="502920" y="1188720"/>
            <a:ext cx="6126480" cy="4480560"/>
          </a:xfrm>
          <a:prstGeom prst="rect">
            <a:avLst/>
          </a:prstGeom>
        </p:spPr>
      </p:pic>
      <p:sp>
        <p:nvSpPr>
          <p:cNvPr id="4" name="Shape 1"/>
          <p:cNvSpPr/>
          <p:nvPr/>
        </p:nvSpPr>
        <p:spPr>
          <a:xfrm>
            <a:off x="6858000" y="1371600"/>
            <a:ext cx="4846320" cy="2057400"/>
          </a:xfrm>
          <a:prstGeom prst="roundRect">
            <a:avLst>
              <a:gd name="adj" fmla="val 5333"/>
            </a:avLst>
          </a:prstGeom>
          <a:solidFill>
            <a:srgbClr val="FCF6F5"/>
          </a:solidFill>
          <a:ln w="12700">
            <a:solidFill>
              <a:srgbClr val="E3D5D3"/>
            </a:solidFill>
            <a:prstDash val="solid"/>
          </a:ln>
        </p:spPr>
      </p:sp>
      <p:pic>
        <p:nvPicPr>
          <p:cNvPr id="5" name="Image 1" descr="preencoded.png">    </p:cNvPr>
          <p:cNvPicPr>
            <a:picLocks noChangeAspect="1"/>
          </p:cNvPicPr>
          <p:nvPr/>
        </p:nvPicPr>
        <p:blipFill>
          <a:blip r:embed="rId2"/>
          <a:stretch>
            <a:fillRect/>
          </a:stretch>
        </p:blipFill>
        <p:spPr>
          <a:xfrm>
            <a:off x="7086600" y="1572768"/>
            <a:ext cx="365760" cy="365760"/>
          </a:xfrm>
          <a:prstGeom prst="rect">
            <a:avLst/>
          </a:prstGeom>
        </p:spPr>
      </p:pic>
      <p:sp>
        <p:nvSpPr>
          <p:cNvPr id="6" name="Text 2"/>
          <p:cNvSpPr txBox="1"/>
          <p:nvPr/>
        </p:nvSpPr>
        <p:spPr>
          <a:xfrm>
            <a:off x="7589520" y="1536192"/>
            <a:ext cx="3977640" cy="59436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non_af_012 — nhãn gốc đáng nghi</a:t>
            </a:r>
            <a:endParaRPr lang="en-US" sz="1350" dirty="0"/>
          </a:p>
        </p:txBody>
      </p:sp>
      <p:sp>
        <p:nvSpPr>
          <p:cNvPr id="7" name="Text 3"/>
          <p:cNvSpPr txBox="1"/>
          <p:nvPr/>
        </p:nvSpPr>
        <p:spPr>
          <a:xfrm>
            <a:off x="7086600" y="2148840"/>
            <a:ext cx="4480560" cy="118872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Soi ECG đối chiếu: RMSSD = 233ms — còn LOẠN HƠN nhóm AFib (170ms). Tim người này loạn thật; mô hình báo đúng, NHÃN của dataset mới đáng ngờ.</a:t>
            </a:r>
            <a:endParaRPr lang="en-US" sz="1200" dirty="0"/>
          </a:p>
        </p:txBody>
      </p:sp>
      <p:sp>
        <p:nvSpPr>
          <p:cNvPr id="8" name="Shape 4"/>
          <p:cNvSpPr/>
          <p:nvPr/>
        </p:nvSpPr>
        <p:spPr>
          <a:xfrm>
            <a:off x="6858000" y="3611880"/>
            <a:ext cx="4846320" cy="2057400"/>
          </a:xfrm>
          <a:prstGeom prst="roundRect">
            <a:avLst>
              <a:gd name="adj" fmla="val 5333"/>
            </a:avLst>
          </a:prstGeom>
          <a:solidFill>
            <a:srgbClr val="FCF6F5"/>
          </a:solidFill>
          <a:ln w="12700">
            <a:solidFill>
              <a:srgbClr val="E3D5D3"/>
            </a:solidFill>
            <a:prstDash val="solid"/>
          </a:ln>
        </p:spPr>
      </p:sp>
      <p:pic>
        <p:nvPicPr>
          <p:cNvPr id="9" name="Image 2" descr="preencoded.png">    </p:cNvPr>
          <p:cNvPicPr>
            <a:picLocks noChangeAspect="1"/>
          </p:cNvPicPr>
          <p:nvPr/>
        </p:nvPicPr>
        <p:blipFill>
          <a:blip r:embed="rId3"/>
          <a:stretch>
            <a:fillRect/>
          </a:stretch>
        </p:blipFill>
        <p:spPr>
          <a:xfrm>
            <a:off x="7086600" y="3813048"/>
            <a:ext cx="365760" cy="365760"/>
          </a:xfrm>
          <a:prstGeom prst="rect">
            <a:avLst/>
          </a:prstGeom>
        </p:spPr>
      </p:pic>
      <p:sp>
        <p:nvSpPr>
          <p:cNvPr id="10" name="Text 5"/>
          <p:cNvSpPr txBox="1"/>
          <p:nvPr/>
        </p:nvSpPr>
        <p:spPr>
          <a:xfrm>
            <a:off x="7589520" y="3776472"/>
            <a:ext cx="3977640" cy="59436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non_af_014 — tín hiệu PPG hỏng</a:t>
            </a:r>
            <a:endParaRPr lang="en-US" sz="1350" dirty="0"/>
          </a:p>
        </p:txBody>
      </p:sp>
      <p:sp>
        <p:nvSpPr>
          <p:cNvPr id="11" name="Text 6"/>
          <p:cNvSpPr txBox="1"/>
          <p:nvPr/>
        </p:nvSpPr>
        <p:spPr>
          <a:xfrm>
            <a:off x="7086600" y="4389120"/>
            <a:ext cx="4480560" cy="118872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ECG cho thấy tim hoàn toàn bình thường (31ms), nhưng PPG nhiễu nặng → chuỗi nhịp rác → mô hình bị lừa. Bài học đẻ ra tính năng SQI: tín hiệu xấu thì TỪ CHỐI trả lời.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Tầng kiểm định 2 — thi đấu 'sân khách'</a:t>
            </a:r>
            <a:endParaRPr lang="en-US" sz="3000" dirty="0"/>
          </a:p>
        </p:txBody>
      </p:sp>
      <p:sp>
        <p:nvSpPr>
          <p:cNvPr id="3" name="Text 1"/>
          <p:cNvSpPr txBox="1"/>
          <p:nvPr/>
        </p:nvSpPr>
        <p:spPr>
          <a:xfrm>
            <a:off x="640080" y="1051560"/>
            <a:ext cx="10908792" cy="457200"/>
          </a:xfrm>
          <a:prstGeom prst="rect">
            <a:avLst/>
          </a:prstGeom>
          <a:noFill/>
          <a:ln/>
        </p:spPr>
        <p:txBody>
          <a:bodyPr wrap="square" lIns="0" tIns="0" rIns="0" bIns="0" rtlCol="0" anchor="ctr"/>
          <a:lstStyle/>
          <a:p>
            <a:pPr indent="0" marL="0">
              <a:buNone/>
            </a:pPr>
            <a:r>
              <a:rPr lang="en-US" sz="1450" dirty="0">
                <a:solidFill>
                  <a:srgbClr val="333333"/>
                </a:solidFill>
                <a:latin typeface="Calibri" pitchFamily="34" charset="0"/>
                <a:ea typeface="Calibri" pitchFamily="34" charset="-122"/>
                <a:cs typeface="Calibri" pitchFamily="34" charset="-120"/>
              </a:rPr>
              <a:t>Học ở dataset này, thi TOÀN BỘ dataset kia — khác bệnh viện, khác loại cảm biến (PPG vs ECG), khác quần thể:</a:t>
            </a:r>
            <a:endParaRPr lang="en-US" sz="1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5120640"/>
                <a:gridCol w="2103120"/>
                <a:gridCol w="1371600"/>
                <a:gridCol w="1280160"/>
                <a:gridCol w="137160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Hướng thi</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Model tốt nhất</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ROC-AUC</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solidFill>
                      <a:srgbClr val="2F3C7E"/>
                    </a:solidFill>
                  </a:tcPr>
                </a:tc>
              </a:tr>
              <a:tr h="566928">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Học MIMIC (PPG) → thi AFDB (ECG, 28.903 cửa sổ)</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XGBoost</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94.6%</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97.0%</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l" indent="0" marL="0">
                        <a:buNone/>
                      </a:pPr>
                      <a:r>
                        <a:rPr lang="en-US" sz="1400" b="1" dirty="0">
                          <a:solidFill>
                            <a:srgbClr val="990011"/>
                          </a:solidFill>
                          <a:latin typeface="Calibri" pitchFamily="34" charset="0"/>
                          <a:ea typeface="Calibri" pitchFamily="34" charset="-122"/>
                          <a:cs typeface="Calibri" pitchFamily="34" charset="-120"/>
                        </a:rPr>
                        <a:t>0.987</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r>
              <a:tr h="566928">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Học AFDB (ECG) → thi MIMIC (PPG, 4.130 cửa sổ)</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91.9%</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97.4%</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c>
                  <a:txBody>
                    <a:bodyPr/>
                    <a:lstStyle/>
                    <a:p>
                      <a:pPr algn="l" indent="0" marL="0">
                        <a:buNone/>
                      </a:pPr>
                      <a:r>
                        <a:rPr lang="en-US" sz="1400" b="1" dirty="0">
                          <a:solidFill>
                            <a:srgbClr val="990011"/>
                          </a:solidFill>
                          <a:latin typeface="Calibri" pitchFamily="34" charset="0"/>
                          <a:ea typeface="Calibri" pitchFamily="34" charset="-122"/>
                          <a:cs typeface="Calibri" pitchFamily="34" charset="-120"/>
                        </a:rPr>
                        <a:t>0.976</a:t>
                      </a:r>
                      <a:endParaRPr lang="en-US" sz="1400" dirty="0">
                        <a:latin typeface="Calibri" charset="0"/>
                        <a:ea typeface="Calibri" charset="0"/>
                        <a:cs typeface="Calibri" charset="0"/>
                      </a:endParaRPr>
                    </a:p>
                  </a:txBody>
                  <a:tcPr marL="91440" marR="91440" marT="45720" marB="45720" anchor="ctr">
                    <a:lnL w="12700" cap="flat" cmpd="sng" algn="ctr">
                      <a:solidFill>
                        <a:srgbClr val="D9DCE8"/>
                      </a:solidFill>
                      <a:prstDash val="solid"/>
                      <a:round/>
                      <a:headEnd type="none" w="med" len="med"/>
                      <a:tailEnd type="none" w="med" len="med"/>
                    </a:lnL>
                    <a:lnR w="12700" cap="flat" cmpd="sng" algn="ctr">
                      <a:solidFill>
                        <a:srgbClr val="D9DCE8"/>
                      </a:solidFill>
                      <a:prstDash val="solid"/>
                      <a:round/>
                      <a:headEnd type="none" w="med" len="med"/>
                      <a:tailEnd type="none" w="med" len="med"/>
                    </a:lnR>
                    <a:lnT w="12700" cap="flat" cmpd="sng" algn="ctr">
                      <a:solidFill>
                        <a:srgbClr val="D9DCE8"/>
                      </a:solidFill>
                      <a:prstDash val="solid"/>
                      <a:round/>
                      <a:headEnd type="none" w="med" len="med"/>
                      <a:tailEnd type="none" w="med" len="med"/>
                    </a:lnT>
                    <a:lnB w="12700" cap="flat" cmpd="sng" algn="ctr">
                      <a:solidFill>
                        <a:srgbClr val="D9DCE8"/>
                      </a:solidFill>
                      <a:prstDash val="solid"/>
                      <a:round/>
                      <a:headEnd type="none" w="med" len="med"/>
                      <a:tailEnd type="none" w="med" len="med"/>
                    </a:lnB>
                  </a:tcPr>
                </a:tc>
              </a:tr>
            </a:tbl>
          </a:graphicData>
        </a:graphic>
      </p:graphicFrame>
      <p:sp>
        <p:nvSpPr>
          <p:cNvPr id="5" name="Shape 2"/>
          <p:cNvSpPr/>
          <p:nvPr/>
        </p:nvSpPr>
        <p:spPr>
          <a:xfrm>
            <a:off x="640080" y="3931920"/>
            <a:ext cx="10908792" cy="1737360"/>
          </a:xfrm>
          <a:prstGeom prst="roundRect">
            <a:avLst>
              <a:gd name="adj" fmla="val 6316"/>
            </a:avLst>
          </a:prstGeom>
          <a:solidFill>
            <a:srgbClr val="FCF6F5"/>
          </a:solidFill>
          <a:ln w="15875">
            <a:solidFill>
              <a:srgbClr val="1B7A43"/>
            </a:solidFill>
            <a:prstDash val="solid"/>
          </a:ln>
        </p:spPr>
      </p:sp>
      <p:sp>
        <p:nvSpPr>
          <p:cNvPr id="6" name="Shape 3"/>
          <p:cNvSpPr/>
          <p:nvPr/>
        </p:nvSpPr>
        <p:spPr>
          <a:xfrm>
            <a:off x="914400" y="4526280"/>
            <a:ext cx="502920" cy="502920"/>
          </a:xfrm>
          <a:prstGeom prst="ellipse">
            <a:avLst/>
          </a:prstGeom>
          <a:solidFill>
            <a:srgbClr val="1B7A43"/>
          </a:solidFill>
          <a:ln/>
        </p:spPr>
      </p:sp>
      <p:pic>
        <p:nvPicPr>
          <p:cNvPr id="7" name="Image 0" descr="preencoded.png">    </p:cNvPr>
          <p:cNvPicPr>
            <a:picLocks noChangeAspect="1"/>
          </p:cNvPicPr>
          <p:nvPr/>
        </p:nvPicPr>
        <p:blipFill>
          <a:blip r:embed="rId1"/>
          <a:stretch>
            <a:fillRect/>
          </a:stretch>
        </p:blipFill>
        <p:spPr>
          <a:xfrm>
            <a:off x="1025042" y="4636922"/>
            <a:ext cx="281635" cy="281635"/>
          </a:xfrm>
          <a:prstGeom prst="rect">
            <a:avLst/>
          </a:prstGeom>
        </p:spPr>
      </p:pic>
      <p:sp>
        <p:nvSpPr>
          <p:cNvPr id="8" name="Text 4"/>
          <p:cNvSpPr txBox="1"/>
          <p:nvPr/>
        </p:nvSpPr>
        <p:spPr>
          <a:xfrm>
            <a:off x="1645920" y="4114800"/>
            <a:ext cx="9537192" cy="1417320"/>
          </a:xfrm>
          <a:prstGeom prst="rect">
            <a:avLst/>
          </a:prstGeom>
          <a:noFill/>
          <a:ln/>
        </p:spPr>
        <p:txBody>
          <a:bodyPr wrap="square" lIns="0" tIns="0" rIns="0" bIns="0" rtlCol="0" anchor="ctr"/>
          <a:lstStyle/>
          <a:p>
            <a:pPr indent="0" marL="0">
              <a:buNone/>
            </a:pPr>
            <a:r>
              <a:rPr lang="en-US" sz="1500" b="1" dirty="0">
                <a:solidFill>
                  <a:srgbClr val="1B7A43"/>
                </a:solidFill>
                <a:latin typeface="Calibri" pitchFamily="34" charset="0"/>
                <a:ea typeface="Calibri" pitchFamily="34" charset="-122"/>
                <a:cs typeface="Calibri" pitchFamily="34" charset="-120"/>
              </a:rPr>
              <a:t>Vì sao đây là bằng chứng mạnh nhất: </a:t>
            </a:r>
            <a:pPr indent="0" marL="0">
              <a:buNone/>
            </a:pPr>
            <a:r>
              <a:rPr lang="en-US" sz="1350" dirty="0">
                <a:solidFill>
                  <a:srgbClr val="333333"/>
                </a:solidFill>
                <a:latin typeface="Calibri" pitchFamily="34" charset="0"/>
                <a:ea typeface="Calibri" pitchFamily="34" charset="-122"/>
                <a:cs typeface="Calibri" pitchFamily="34" charset="-120"/>
              </a:rPr>
              <a:t>nếu mô hình chỉ 'học vẹt' đặc điểm bệnh viện/máy đo, sang sân khách điểm phải sụp đổ. Giữ được AUC ~0.98 cả hai chiều nghĩa là nó học được DẤU HIỆU SINH LÝ của Rung Nhĩ — thứ bất biến qua thiết bị và quần thể.</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Tầng 3 — gộp 60 bệnh nhân, chốt model triển khai</a:t>
            </a:r>
            <a:endParaRPr lang="en-US" sz="3000" dirty="0"/>
          </a:p>
        </p:txBody>
      </p:sp>
      <p:sp>
        <p:nvSpPr>
          <p:cNvPr id="3" name="Text 1"/>
          <p:cNvSpPr txBox="1"/>
          <p:nvPr/>
        </p:nvSpPr>
        <p:spPr>
          <a:xfrm>
            <a:off x="640080" y="1280160"/>
            <a:ext cx="6309360" cy="4114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Gộp MIMIC + AFDB = 60 bệnh nhân, nhưng AFDB có 29k cửa sổ vs MIMIC 4k → cân bằng bằng sample weight (mỗi dataset một 'lá phiếu' ngang giá)</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Vẫn thi LOSO — giờ là 60 vòng</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Thắng cuộc: XGBoost → train lại trên toàn bộ 60 người → xuất healthsense_afib_pipeline.pkl (kèm scaler trong 1 file)</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Kèm 'giấy khai sinh' model_card.json: input/output, điểm số từng bài thi, giới hạn sử dụng</a:t>
            </a:r>
            <a:endParaRPr lang="en-US" sz="1400" dirty="0"/>
          </a:p>
        </p:txBody>
      </p:sp>
      <p:sp>
        <p:nvSpPr>
          <p:cNvPr id="4" name="Text 2"/>
          <p:cNvSpPr txBox="1"/>
          <p:nvPr/>
        </p:nvSpPr>
        <p:spPr>
          <a:xfrm>
            <a:off x="7269480" y="1463040"/>
            <a:ext cx="2377440" cy="822960"/>
          </a:xfrm>
          <a:prstGeom prst="rect">
            <a:avLst/>
          </a:prstGeom>
          <a:noFill/>
          <a:ln/>
        </p:spPr>
        <p:txBody>
          <a:bodyPr wrap="square" lIns="0" tIns="0" rIns="0" bIns="0" rtlCol="0" anchor="ctr"/>
          <a:lstStyle/>
          <a:p>
            <a:pPr algn="ctr" indent="0" marL="0">
              <a:buNone/>
            </a:pPr>
            <a:r>
              <a:rPr lang="en-US" sz="4400" b="1" dirty="0">
                <a:solidFill>
                  <a:srgbClr val="2F3C7E"/>
                </a:solidFill>
                <a:latin typeface="Arial" pitchFamily="34" charset="0"/>
                <a:ea typeface="Arial" pitchFamily="34" charset="-122"/>
                <a:cs typeface="Arial" pitchFamily="34" charset="-120"/>
              </a:rPr>
              <a:t>95.9%</a:t>
            </a:r>
            <a:endParaRPr lang="en-US" sz="4400" dirty="0"/>
          </a:p>
        </p:txBody>
      </p:sp>
      <p:sp>
        <p:nvSpPr>
          <p:cNvPr id="5" name="Text 3"/>
          <p:cNvSpPr txBox="1"/>
          <p:nvPr/>
        </p:nvSpPr>
        <p:spPr>
          <a:xfrm>
            <a:off x="7269480" y="2304288"/>
            <a:ext cx="237744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Accuracy pooled LOSO</a:t>
            </a:r>
            <a:endParaRPr lang="en-US" sz="1300" dirty="0"/>
          </a:p>
        </p:txBody>
      </p:sp>
      <p:sp>
        <p:nvSpPr>
          <p:cNvPr id="6" name="Text 4"/>
          <p:cNvSpPr txBox="1"/>
          <p:nvPr/>
        </p:nvSpPr>
        <p:spPr>
          <a:xfrm>
            <a:off x="9646920" y="1463040"/>
            <a:ext cx="2377440" cy="822960"/>
          </a:xfrm>
          <a:prstGeom prst="rect">
            <a:avLst/>
          </a:prstGeom>
          <a:noFill/>
          <a:ln/>
        </p:spPr>
        <p:txBody>
          <a:bodyPr wrap="square" lIns="0" tIns="0" rIns="0" bIns="0" rtlCol="0" anchor="ctr"/>
          <a:lstStyle/>
          <a:p>
            <a:pPr algn="ctr" indent="0" marL="0">
              <a:buNone/>
            </a:pPr>
            <a:r>
              <a:rPr lang="en-US" sz="4400" b="1" dirty="0">
                <a:solidFill>
                  <a:srgbClr val="990011"/>
                </a:solidFill>
                <a:latin typeface="Arial" pitchFamily="34" charset="0"/>
                <a:ea typeface="Arial" pitchFamily="34" charset="-122"/>
                <a:cs typeface="Arial" pitchFamily="34" charset="-120"/>
              </a:rPr>
              <a:t>0.988</a:t>
            </a:r>
            <a:endParaRPr lang="en-US" sz="4400" dirty="0"/>
          </a:p>
        </p:txBody>
      </p:sp>
      <p:sp>
        <p:nvSpPr>
          <p:cNvPr id="7" name="Text 5"/>
          <p:cNvSpPr txBox="1"/>
          <p:nvPr/>
        </p:nvSpPr>
        <p:spPr>
          <a:xfrm>
            <a:off x="9646920" y="2304288"/>
            <a:ext cx="237744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ROC-AUC</a:t>
            </a:r>
            <a:endParaRPr lang="en-US" sz="1300" dirty="0"/>
          </a:p>
        </p:txBody>
      </p:sp>
      <p:sp>
        <p:nvSpPr>
          <p:cNvPr id="8" name="Text 6"/>
          <p:cNvSpPr txBox="1"/>
          <p:nvPr/>
        </p:nvSpPr>
        <p:spPr>
          <a:xfrm>
            <a:off x="7269480" y="3200400"/>
            <a:ext cx="2377440" cy="822960"/>
          </a:xfrm>
          <a:prstGeom prst="rect">
            <a:avLst/>
          </a:prstGeom>
          <a:noFill/>
          <a:ln/>
        </p:spPr>
        <p:txBody>
          <a:bodyPr wrap="square" lIns="0" tIns="0" rIns="0" bIns="0" rtlCol="0" anchor="ctr"/>
          <a:lstStyle/>
          <a:p>
            <a:pPr algn="ctr" indent="0" marL="0">
              <a:buNone/>
            </a:pPr>
            <a:r>
              <a:rPr lang="en-US" sz="4400" b="1" dirty="0">
                <a:solidFill>
                  <a:srgbClr val="1B7A43"/>
                </a:solidFill>
                <a:latin typeface="Arial" pitchFamily="34" charset="0"/>
                <a:ea typeface="Arial" pitchFamily="34" charset="-122"/>
                <a:cs typeface="Arial" pitchFamily="34" charset="-120"/>
              </a:rPr>
              <a:t>97.2%</a:t>
            </a:r>
            <a:endParaRPr lang="en-US" sz="4400" dirty="0"/>
          </a:p>
        </p:txBody>
      </p:sp>
      <p:sp>
        <p:nvSpPr>
          <p:cNvPr id="9" name="Text 7"/>
          <p:cNvSpPr txBox="1"/>
          <p:nvPr/>
        </p:nvSpPr>
        <p:spPr>
          <a:xfrm>
            <a:off x="7269480" y="4041648"/>
            <a:ext cx="237744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Recall</a:t>
            </a:r>
            <a:endParaRPr lang="en-US" sz="1300" dirty="0"/>
          </a:p>
        </p:txBody>
      </p:sp>
      <p:sp>
        <p:nvSpPr>
          <p:cNvPr id="10" name="Text 8"/>
          <p:cNvSpPr txBox="1"/>
          <p:nvPr/>
        </p:nvSpPr>
        <p:spPr>
          <a:xfrm>
            <a:off x="9646920" y="3200400"/>
            <a:ext cx="2377440" cy="822960"/>
          </a:xfrm>
          <a:prstGeom prst="rect">
            <a:avLst/>
          </a:prstGeom>
          <a:noFill/>
          <a:ln/>
        </p:spPr>
        <p:txBody>
          <a:bodyPr wrap="square" lIns="0" tIns="0" rIns="0" bIns="0" rtlCol="0" anchor="ctr"/>
          <a:lstStyle/>
          <a:p>
            <a:pPr algn="ctr" indent="0" marL="0">
              <a:buNone/>
            </a:pPr>
            <a:r>
              <a:rPr lang="en-US" sz="4400" b="1" dirty="0">
                <a:solidFill>
                  <a:srgbClr val="64748B"/>
                </a:solidFill>
                <a:latin typeface="Arial" pitchFamily="34" charset="0"/>
                <a:ea typeface="Arial" pitchFamily="34" charset="-122"/>
                <a:cs typeface="Arial" pitchFamily="34" charset="-120"/>
              </a:rPr>
              <a:t>60</a:t>
            </a:r>
            <a:endParaRPr lang="en-US" sz="4400" dirty="0"/>
          </a:p>
        </p:txBody>
      </p:sp>
      <p:sp>
        <p:nvSpPr>
          <p:cNvPr id="11" name="Text 9"/>
          <p:cNvSpPr txBox="1"/>
          <p:nvPr/>
        </p:nvSpPr>
        <p:spPr>
          <a:xfrm>
            <a:off x="9646920" y="4041648"/>
            <a:ext cx="237744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bệnh nhân, 2 loại cảm biến</a:t>
            </a:r>
            <a:endParaRPr lang="en-US" sz="1300" dirty="0"/>
          </a:p>
        </p:txBody>
      </p:sp>
      <p:sp>
        <p:nvSpPr>
          <p:cNvPr id="12" name="Text 10"/>
          <p:cNvSpPr txBox="1"/>
          <p:nvPr/>
        </p:nvSpPr>
        <p:spPr>
          <a:xfrm>
            <a:off x="640080" y="5623560"/>
            <a:ext cx="10908792" cy="640080"/>
          </a:xfrm>
          <a:prstGeom prst="rect">
            <a:avLst/>
          </a:prstGeom>
          <a:noFill/>
          <a:ln/>
        </p:spPr>
        <p:txBody>
          <a:bodyPr wrap="square" lIns="0" tIns="0" rIns="0" bIns="0" rtlCol="0" anchor="ctr"/>
          <a:lstStyle/>
          <a:p>
            <a:pPr algn="ctr" indent="0" marL="0">
              <a:buNone/>
            </a:pPr>
            <a:r>
              <a:rPr lang="en-US" sz="1350" i="1" dirty="0">
                <a:solidFill>
                  <a:srgbClr val="990011"/>
                </a:solidFill>
                <a:latin typeface="Calibri" pitchFamily="34" charset="0"/>
                <a:ea typeface="Calibri" pitchFamily="34" charset="-122"/>
                <a:cs typeface="Calibri" pitchFamily="34" charset="-120"/>
              </a:rPr>
              <a:t>Gộp dữ liệu CHỈ sau khi đã chứng minh phương pháp sạch ở tầng 1-2 — gộp trước rồi chia random là quay lại đúng cái bẫy leakage.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Kiểm chứng nền móng: chấm điểm dò nhịp bằng ECG</a:t>
            </a:r>
            <a:endParaRPr lang="en-US" sz="3000" dirty="0"/>
          </a:p>
        </p:txBody>
      </p:sp>
      <p:sp>
        <p:nvSpPr>
          <p:cNvPr id="3" name="Text 1"/>
          <p:cNvSpPr txBox="1"/>
          <p:nvPr/>
        </p:nvSpPr>
        <p:spPr>
          <a:xfrm>
            <a:off x="640080" y="1280160"/>
            <a:ext cx="6766560" cy="4114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Mọi đặc trưng đứng trên vai bộ dò nhịp — nếu dò sai thì tất cả sụp. Phải chấm điểm nó!</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May mắn: MIMIC ghi ECG SONG SONG với PPG → dùng R-peak trên ECG làm đáp án chuẩn, khớp từng nhịp (±150ms, sau khi bù độ trễ mạch PTT)</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Kết quả: nhóm Normal F1 = 0.991 (gần hoàn hảo); nhóm AFib 0.855 — thấp hơn vì biên độ mạch AF thay đổi từng nhịp</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So kết quả đo: nhịp tim PPG lệch ECG trung bình chỉ 3.5 bpm (r = 0.94) — đủ tin cho sàng lọc; riêng giá trị HRV tuyệt đối thì PPG 'phóng đại' (hiện tượng PRV ≠ HRV kinh điển trong y văn)</a:t>
            </a:r>
            <a:endParaRPr lang="en-US" sz="1400" dirty="0"/>
          </a:p>
        </p:txBody>
      </p:sp>
      <p:sp>
        <p:nvSpPr>
          <p:cNvPr id="4" name="Text 2"/>
          <p:cNvSpPr txBox="1"/>
          <p:nvPr/>
        </p:nvSpPr>
        <p:spPr>
          <a:xfrm>
            <a:off x="7772400" y="1554480"/>
            <a:ext cx="3749040" cy="822960"/>
          </a:xfrm>
          <a:prstGeom prst="rect">
            <a:avLst/>
          </a:prstGeom>
          <a:noFill/>
          <a:ln/>
        </p:spPr>
        <p:txBody>
          <a:bodyPr wrap="square" lIns="0" tIns="0" rIns="0" bIns="0" rtlCol="0" anchor="ctr"/>
          <a:lstStyle/>
          <a:p>
            <a:pPr algn="ctr" indent="0" marL="0">
              <a:buNone/>
            </a:pPr>
            <a:r>
              <a:rPr lang="en-US" sz="4400" b="1" dirty="0">
                <a:solidFill>
                  <a:srgbClr val="1B7A43"/>
                </a:solidFill>
                <a:latin typeface="Arial" pitchFamily="34" charset="0"/>
                <a:ea typeface="Arial" pitchFamily="34" charset="-122"/>
                <a:cs typeface="Arial" pitchFamily="34" charset="-120"/>
              </a:rPr>
              <a:t>0.991</a:t>
            </a:r>
            <a:endParaRPr lang="en-US" sz="4400" dirty="0"/>
          </a:p>
        </p:txBody>
      </p:sp>
      <p:sp>
        <p:nvSpPr>
          <p:cNvPr id="5" name="Text 3"/>
          <p:cNvSpPr txBox="1"/>
          <p:nvPr/>
        </p:nvSpPr>
        <p:spPr>
          <a:xfrm>
            <a:off x="7772400" y="2395728"/>
            <a:ext cx="374904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F1 dò nhịp nhóm Normal — mỗi nhịp ECG đều được PPG 'bắt' đúng chỗ</a:t>
            </a:r>
            <a:endParaRPr lang="en-US" sz="1300" dirty="0"/>
          </a:p>
        </p:txBody>
      </p:sp>
      <p:sp>
        <p:nvSpPr>
          <p:cNvPr id="6" name="Text 4"/>
          <p:cNvSpPr txBox="1"/>
          <p:nvPr/>
        </p:nvSpPr>
        <p:spPr>
          <a:xfrm>
            <a:off x="7772400" y="3383280"/>
            <a:ext cx="3749040" cy="822960"/>
          </a:xfrm>
          <a:prstGeom prst="rect">
            <a:avLst/>
          </a:prstGeom>
          <a:noFill/>
          <a:ln/>
        </p:spPr>
        <p:txBody>
          <a:bodyPr wrap="square" lIns="0" tIns="0" rIns="0" bIns="0" rtlCol="0" anchor="ctr"/>
          <a:lstStyle/>
          <a:p>
            <a:pPr algn="ctr" indent="0" marL="0">
              <a:buNone/>
            </a:pPr>
            <a:r>
              <a:rPr lang="en-US" sz="4400" b="1" dirty="0">
                <a:solidFill>
                  <a:srgbClr val="2F3C7E"/>
                </a:solidFill>
                <a:latin typeface="Arial" pitchFamily="34" charset="0"/>
                <a:ea typeface="Arial" pitchFamily="34" charset="-122"/>
                <a:cs typeface="Arial" pitchFamily="34" charset="-120"/>
              </a:rPr>
              <a:t>3.5 bpm</a:t>
            </a:r>
            <a:endParaRPr lang="en-US" sz="4400" dirty="0"/>
          </a:p>
        </p:txBody>
      </p:sp>
      <p:sp>
        <p:nvSpPr>
          <p:cNvPr id="7" name="Text 5"/>
          <p:cNvSpPr txBox="1"/>
          <p:nvPr/>
        </p:nvSpPr>
        <p:spPr>
          <a:xfrm>
            <a:off x="7772400" y="4224528"/>
            <a:ext cx="3749040" cy="64008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sai số nhịp tim PPG vs ECG trên 1.400 cửa sổ</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Từ notebook đến sản phẩm thật</a:t>
            </a:r>
            <a:endParaRPr lang="en-US" sz="3000" dirty="0"/>
          </a:p>
        </p:txBody>
      </p:sp>
      <p:sp>
        <p:nvSpPr>
          <p:cNvPr id="3" name="Shape 1"/>
          <p:cNvSpPr/>
          <p:nvPr/>
        </p:nvSpPr>
        <p:spPr>
          <a:xfrm>
            <a:off x="640080" y="1344168"/>
            <a:ext cx="502920" cy="502920"/>
          </a:xfrm>
          <a:prstGeom prst="ellipse">
            <a:avLst/>
          </a:prstGeom>
          <a:solidFill>
            <a:srgbClr val="990011"/>
          </a:solidFill>
          <a:ln/>
        </p:spPr>
      </p:sp>
      <p:pic>
        <p:nvPicPr>
          <p:cNvPr id="4" name="Image 0" descr="preencoded.png">    </p:cNvPr>
          <p:cNvPicPr>
            <a:picLocks noChangeAspect="1"/>
          </p:cNvPicPr>
          <p:nvPr/>
        </p:nvPicPr>
        <p:blipFill>
          <a:blip r:embed="rId1"/>
          <a:stretch>
            <a:fillRect/>
          </a:stretch>
        </p:blipFill>
        <p:spPr>
          <a:xfrm>
            <a:off x="750722" y="1454810"/>
            <a:ext cx="281635" cy="281635"/>
          </a:xfrm>
          <a:prstGeom prst="rect">
            <a:avLst/>
          </a:prstGeom>
        </p:spPr>
      </p:pic>
      <p:sp>
        <p:nvSpPr>
          <p:cNvPr id="5" name="Text 2"/>
          <p:cNvSpPr txBox="1"/>
          <p:nvPr/>
        </p:nvSpPr>
        <p:spPr>
          <a:xfrm>
            <a:off x="1371600" y="1234440"/>
            <a:ext cx="10241280" cy="4114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SQI — người gác cổng</a:t>
            </a:r>
            <a:endParaRPr lang="en-US" sz="1600" dirty="0"/>
          </a:p>
        </p:txBody>
      </p:sp>
      <p:sp>
        <p:nvSpPr>
          <p:cNvPr id="6" name="Text 3"/>
          <p:cNvSpPr txBox="1"/>
          <p:nvPr/>
        </p:nvSpPr>
        <p:spPr>
          <a:xfrm>
            <a:off x="1371600" y="1673352"/>
            <a:ext cx="10241280" cy="109728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Tín hiệu không giống sóng mạch (nhiễu, đeo lỏng) → TỪ CHỐI phân loại thay vì đoán bừa. Ngưỡng đặt bằng đo đạc thật: sóng thật dồn ≥86% năng lượng vào dải nhịp tim, nhiễu chỉ ~41%.</a:t>
            </a:r>
            <a:endParaRPr lang="en-US" sz="1300" dirty="0"/>
          </a:p>
        </p:txBody>
      </p:sp>
      <p:sp>
        <p:nvSpPr>
          <p:cNvPr id="7" name="Shape 4"/>
          <p:cNvSpPr/>
          <p:nvPr/>
        </p:nvSpPr>
        <p:spPr>
          <a:xfrm>
            <a:off x="640080" y="2971800"/>
            <a:ext cx="502920" cy="502920"/>
          </a:xfrm>
          <a:prstGeom prst="ellipse">
            <a:avLst/>
          </a:prstGeom>
          <a:solidFill>
            <a:srgbClr val="2F3C7E"/>
          </a:solidFill>
          <a:ln/>
        </p:spPr>
      </p:sp>
      <p:pic>
        <p:nvPicPr>
          <p:cNvPr id="8" name="Image 1" descr="preencoded.png">    </p:cNvPr>
          <p:cNvPicPr>
            <a:picLocks noChangeAspect="1"/>
          </p:cNvPicPr>
          <p:nvPr/>
        </p:nvPicPr>
        <p:blipFill>
          <a:blip r:embed="rId2"/>
          <a:stretch>
            <a:fillRect/>
          </a:stretch>
        </p:blipFill>
        <p:spPr>
          <a:xfrm>
            <a:off x="750722" y="3082442"/>
            <a:ext cx="281635" cy="281635"/>
          </a:xfrm>
          <a:prstGeom prst="rect">
            <a:avLst/>
          </a:prstGeom>
        </p:spPr>
      </p:pic>
      <p:sp>
        <p:nvSpPr>
          <p:cNvPr id="9" name="Text 5"/>
          <p:cNvSpPr txBox="1"/>
          <p:nvPr/>
        </p:nvSpPr>
        <p:spPr>
          <a:xfrm>
            <a:off x="1371600" y="2862072"/>
            <a:ext cx="10241280" cy="4114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Parity test — khóa an toàn</a:t>
            </a:r>
            <a:endParaRPr lang="en-US" sz="1600" dirty="0"/>
          </a:p>
        </p:txBody>
      </p:sp>
      <p:sp>
        <p:nvSpPr>
          <p:cNvPr id="10" name="Text 6"/>
          <p:cNvSpPr txBox="1"/>
          <p:nvPr/>
        </p:nvSpPr>
        <p:spPr>
          <a:xfrm>
            <a:off x="1371600" y="3300984"/>
            <a:ext cx="10241280" cy="109728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Service tính đặc trưng phải GIỐNG HỆT lab đến 6 chữ số thập phân — chạy tự động trước mỗi lần deploy. Chặn lớp bug 'lệch âm thầm' giữa nơi huấn luyện và nơi phục vụ.</a:t>
            </a:r>
            <a:endParaRPr lang="en-US" sz="1300" dirty="0"/>
          </a:p>
        </p:txBody>
      </p:sp>
      <p:sp>
        <p:nvSpPr>
          <p:cNvPr id="11" name="Shape 7"/>
          <p:cNvSpPr/>
          <p:nvPr/>
        </p:nvSpPr>
        <p:spPr>
          <a:xfrm>
            <a:off x="640080" y="4599432"/>
            <a:ext cx="502920" cy="502920"/>
          </a:xfrm>
          <a:prstGeom prst="ellipse">
            <a:avLst/>
          </a:prstGeom>
          <a:solidFill>
            <a:srgbClr val="2F3C7E"/>
          </a:solidFill>
          <a:ln/>
        </p:spPr>
      </p:sp>
      <p:pic>
        <p:nvPicPr>
          <p:cNvPr id="12" name="Image 2" descr="preencoded.png">    </p:cNvPr>
          <p:cNvPicPr>
            <a:picLocks noChangeAspect="1"/>
          </p:cNvPicPr>
          <p:nvPr/>
        </p:nvPicPr>
        <p:blipFill>
          <a:blip r:embed="rId3"/>
          <a:stretch>
            <a:fillRect/>
          </a:stretch>
        </p:blipFill>
        <p:spPr>
          <a:xfrm>
            <a:off x="750722" y="4710074"/>
            <a:ext cx="281635" cy="281635"/>
          </a:xfrm>
          <a:prstGeom prst="rect">
            <a:avLst/>
          </a:prstGeom>
        </p:spPr>
      </p:pic>
      <p:sp>
        <p:nvSpPr>
          <p:cNvPr id="13" name="Text 8"/>
          <p:cNvSpPr txBox="1"/>
          <p:nvPr/>
        </p:nvSpPr>
        <p:spPr>
          <a:xfrm>
            <a:off x="1371600" y="4489704"/>
            <a:ext cx="10241280" cy="41148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Đường đi trong production</a:t>
            </a:r>
            <a:endParaRPr lang="en-US" sz="1600" dirty="0"/>
          </a:p>
        </p:txBody>
      </p:sp>
      <p:sp>
        <p:nvSpPr>
          <p:cNvPr id="14" name="Text 9"/>
          <p:cNvSpPr txBox="1"/>
          <p:nvPr/>
        </p:nvSpPr>
        <p:spPr>
          <a:xfrm>
            <a:off x="1371600" y="4928616"/>
            <a:ext cx="10241280" cy="109728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Thiết bị đo → CSV lên server → hàng đợi → AI chấm P(AFib) + vẽ sẵn đồ thị → lưu hồ sơ → P cao thì chuông bác sĩ reo TỨC THÌ (realtime WS).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32B5C"/>
        </a:solidFill>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 điều mang về</a:t>
            </a:r>
            <a:endParaRPr lang="en-US" sz="3000" dirty="0"/>
          </a:p>
        </p:txBody>
      </p:sp>
      <p:sp>
        <p:nvSpPr>
          <p:cNvPr id="3" name="Text 1"/>
          <p:cNvSpPr txBox="1"/>
          <p:nvPr/>
        </p:nvSpPr>
        <p:spPr>
          <a:xfrm>
            <a:off x="822960" y="1371600"/>
            <a:ext cx="10543032" cy="3840480"/>
          </a:xfrm>
          <a:prstGeom prst="rect">
            <a:avLst/>
          </a:prstGeom>
          <a:noFill/>
          <a:ln/>
        </p:spPr>
        <p:txBody>
          <a:bodyPr wrap="square" lIns="0" tIns="0" rIns="0" bIns="0" rtlCol="0" anchor="t"/>
          <a:lstStyle/>
          <a:p>
            <a:pPr marL="342900" indent="-342900">
              <a:spcAft>
                <a:spcPts val="1200"/>
              </a:spcAft>
              <a:buSzPct val="100000"/>
              <a:buChar char="•"/>
            </a:pPr>
            <a:r>
              <a:rPr lang="en-US" sz="1650" dirty="0">
                <a:solidFill>
                  <a:srgbClr val="E8EAF6"/>
                </a:solidFill>
                <a:latin typeface="Calibri" pitchFamily="34" charset="0"/>
                <a:ea typeface="Calibri" pitchFamily="34" charset="-122"/>
                <a:cs typeface="Calibri" pitchFamily="34" charset="-120"/>
              </a:rPr>
              <a:t>Nhịp tim LOẠN là dấu vân tay của Rung Nhĩ — và đo được chỉ bằng ánh sáng trên cổ tay</a:t>
            </a:r>
            <a:endParaRPr lang="en-US" sz="1650" dirty="0"/>
          </a:p>
          <a:p>
            <a:pPr marL="342900" indent="-342900">
              <a:spcAft>
                <a:spcPts val="1200"/>
              </a:spcAft>
              <a:buSzPct val="100000"/>
              <a:buChar char="•"/>
            </a:pPr>
            <a:r>
              <a:rPr lang="en-US" sz="1650" dirty="0">
                <a:solidFill>
                  <a:srgbClr val="E8EAF6"/>
                </a:solidFill>
                <a:latin typeface="Calibri" pitchFamily="34" charset="0"/>
                <a:ea typeface="Calibri" pitchFamily="34" charset="-122"/>
                <a:cs typeface="Calibri" pitchFamily="34" charset="-120"/>
              </a:rPr>
              <a:t>Con số đẹp chưa chắc đúng: leakage biến 99% thành trò 'xem trước đề thi' — luôn chia dữ liệu theo BỆNH NHÂN</a:t>
            </a:r>
            <a:endParaRPr lang="en-US" sz="1650" dirty="0"/>
          </a:p>
          <a:p>
            <a:pPr marL="342900" indent="-342900">
              <a:spcAft>
                <a:spcPts val="1200"/>
              </a:spcAft>
              <a:buSzPct val="100000"/>
              <a:buChar char="•"/>
            </a:pPr>
            <a:r>
              <a:rPr lang="en-US" sz="1650" dirty="0">
                <a:solidFill>
                  <a:srgbClr val="E8EAF6"/>
                </a:solidFill>
                <a:latin typeface="Calibri" pitchFamily="34" charset="0"/>
                <a:ea typeface="Calibri" pitchFamily="34" charset="-122"/>
                <a:cs typeface="Calibri" pitchFamily="34" charset="-120"/>
              </a:rPr>
              <a:t>Một kết luận cần nhiều tầng bằng chứng: LOSO → sân khách → gộp; và kiểm chứng cả công cụ đo bằng ECG</a:t>
            </a:r>
            <a:endParaRPr lang="en-US" sz="1650" dirty="0"/>
          </a:p>
          <a:p>
            <a:pPr marL="342900" indent="-342900">
              <a:spcAft>
                <a:spcPts val="1200"/>
              </a:spcAft>
              <a:buSzPct val="100000"/>
              <a:buChar char="•"/>
            </a:pPr>
            <a:r>
              <a:rPr lang="en-US" sz="1650" dirty="0">
                <a:solidFill>
                  <a:srgbClr val="E8EAF6"/>
                </a:solidFill>
                <a:latin typeface="Calibri" pitchFamily="34" charset="0"/>
                <a:ea typeface="Calibri" pitchFamily="34" charset="-122"/>
                <a:cs typeface="Calibri" pitchFamily="34" charset="-120"/>
              </a:rPr>
              <a:t>Mô hình sai đôi khi là... dữ liệu sai — 2 ca 'nhầm' dạy ta nghi ngờ cả nhãn lẫn tín hiệu</a:t>
            </a:r>
            <a:endParaRPr lang="en-US" sz="1650" dirty="0"/>
          </a:p>
          <a:p>
            <a:pPr marL="342900" indent="-342900">
              <a:spcAft>
                <a:spcPts val="1200"/>
              </a:spcAft>
              <a:buSzPct val="100000"/>
              <a:buChar char="•"/>
            </a:pPr>
            <a:r>
              <a:rPr lang="en-US" sz="1650" dirty="0">
                <a:solidFill>
                  <a:srgbClr val="E8EAF6"/>
                </a:solidFill>
                <a:latin typeface="Calibri" pitchFamily="34" charset="0"/>
                <a:ea typeface="Calibri" pitchFamily="34" charset="-122"/>
                <a:cs typeface="Calibri" pitchFamily="34" charset="-120"/>
              </a:rPr>
              <a:t>94% trung thực đáng giá hơn 99% ảo — vì nó bảo vệ được, tái lập được, và dám chạy trước người dùng thật</a:t>
            </a:r>
            <a:endParaRPr lang="en-US" sz="1650" dirty="0"/>
          </a:p>
        </p:txBody>
      </p:sp>
      <p:sp>
        <p:nvSpPr>
          <p:cNvPr id="4" name="Text 2"/>
          <p:cNvSpPr txBox="1"/>
          <p:nvPr/>
        </p:nvSpPr>
        <p:spPr>
          <a:xfrm>
            <a:off x="822960" y="5577840"/>
            <a:ext cx="10543032" cy="640080"/>
          </a:xfrm>
          <a:prstGeom prst="rect">
            <a:avLst/>
          </a:prstGeom>
          <a:noFill/>
          <a:ln/>
        </p:spPr>
        <p:txBody>
          <a:bodyPr wrap="square" lIns="0" tIns="0" rIns="0" bIns="0" rtlCol="0" anchor="ctr"/>
          <a:lstStyle/>
          <a:p>
            <a:pPr algn="ctr" indent="0" marL="0">
              <a:buNone/>
            </a:pPr>
            <a:r>
              <a:rPr lang="en-US" sz="1300" i="1" dirty="0">
                <a:solidFill>
                  <a:srgbClr val="8B93C4"/>
                </a:solidFill>
                <a:latin typeface="Calibri" pitchFamily="34" charset="0"/>
                <a:ea typeface="Calibri" pitchFamily="34" charset="-122"/>
                <a:cs typeface="Calibri" pitchFamily="34" charset="-120"/>
              </a:rPr>
              <a:t>Giới hạn còn mở: 60 bệnh nhân là ít (CI rộng) · chưa kiểm định trên PPG cổ tay ngoài đời thực · không phải thiết bị chẩn đoán y tế</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HealthSense</dc:creator>
  <cp:lastModifiedBy>HealthSense</cp:lastModifiedBy>
  <cp:revision>1</cp:revision>
  <dcterms:created xsi:type="dcterms:W3CDTF">2026-09-01T10:28:43Z</dcterms:created>
  <dcterms:modified xsi:type="dcterms:W3CDTF">2026-09-01T10:28:43Z</dcterms:modified>
</cp:coreProperties>
</file>